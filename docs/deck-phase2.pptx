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Lazy edits</c:v>
                </c:pt>
              </c:strCache>
            </c:strRef>
          </c:tx>
          <c:spPr>
            <a:solidFill>
              <a:srgbClr val="F2A93B"/>
            </a:solidFill>
            <a:ln w="38100" cap="flat">
              <a:solidFill>
                <a:srgbClr val="F2A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2A93B"/>
              </a:solidFill>
              <a:ln w="9525" cap="flat">
                <a:solidFill>
                  <a:srgbClr val="F2A93B"/>
                </a:solidFill>
                <a:prstDash val="solid"/>
                <a:round/>
              </a:ln>
              <a:effectLst/>
            </c:spPr>
          </c:marker>
          <c:cat>
            <c:multiLvlStrRef>
              <c:f>Sheet1!$A$2:$A$8</c:f>
              <c:multiLvlStrCache>
                <c:ptCount val="7"/>
                <c:lvl>
                  <c:pt idx="0">
                    <c:v>0.95</c:v>
                  </c:pt>
                  <c:pt idx="1">
                    <c:v>0.9</c:v>
                  </c:pt>
                  <c:pt idx="2">
                    <c:v>0.85</c:v>
                  </c:pt>
                  <c:pt idx="3">
                    <c:v>0.8</c:v>
                  </c:pt>
                  <c:pt idx="4">
                    <c:v>0.75</c:v>
                  </c:pt>
                  <c:pt idx="5">
                    <c:v>0.7</c:v>
                  </c:pt>
                  <c:pt idx="6">
                    <c:v>0.65</c:v>
                  </c:pt>
                </c:lvl>
              </c:multiLvlStrCache>
            </c:multiLvlStrRef>
          </c:cat>
          <c:val>
            <c:numRef>
              <c:f>Sheet1!$B$2:$B$8</c:f>
              <c:numCache>
                <c:formatCode>General</c:formatCode>
                <c:ptCount val="7"/>
                <c:pt idx="0">
                  <c:v>90</c:v>
                </c:pt>
                <c:pt idx="1">
                  <c:v>95</c:v>
                </c:pt>
                <c:pt idx="2">
                  <c:v>97</c:v>
                </c:pt>
                <c:pt idx="3">
                  <c:v>98</c:v>
                </c:pt>
                <c:pt idx="4">
                  <c:v>99</c:v>
                </c:pt>
                <c:pt idx="5">
                  <c:v>99</c:v>
                </c:pt>
                <c:pt idx="6">
                  <c:v>100</c:v>
                </c:pt>
              </c:numCache>
            </c:numRef>
          </c:val>
          <c:smooth val="0"/>
        </c:ser>
        <c:ser>
          <c:idx val="1"/>
          <c:order val="1"/>
          <c:tx>
            <c:strRef>
              <c:f>Sheet1!$C$1</c:f>
              <c:strCache>
                <c:ptCount val="1"/>
                <c:pt idx="0">
                  <c:v>Full rewrites</c:v>
                </c:pt>
              </c:strCache>
            </c:strRef>
          </c:tx>
          <c:spPr>
            <a:solidFill>
              <a:srgbClr val="4C9AFF"/>
            </a:solidFill>
            <a:ln w="38100" cap="flat">
              <a:solidFill>
                <a:srgbClr val="4C9A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C9AFF"/>
              </a:solidFill>
              <a:ln w="9525" cap="flat">
                <a:solidFill>
                  <a:srgbClr val="4C9AFF"/>
                </a:solidFill>
                <a:prstDash val="solid"/>
                <a:round/>
              </a:ln>
              <a:effectLst/>
            </c:spPr>
          </c:marker>
          <c:cat>
            <c:multiLvlStrRef>
              <c:f>Sheet1!$A$2:$A$8</c:f>
              <c:multiLvlStrCache>
                <c:ptCount val="7"/>
                <c:lvl>
                  <c:pt idx="0">
                    <c:v>0.95</c:v>
                  </c:pt>
                  <c:pt idx="1">
                    <c:v>0.9</c:v>
                  </c:pt>
                  <c:pt idx="2">
                    <c:v>0.85</c:v>
                  </c:pt>
                  <c:pt idx="3">
                    <c:v>0.8</c:v>
                  </c:pt>
                  <c:pt idx="4">
                    <c:v>0.75</c:v>
                  </c:pt>
                  <c:pt idx="5">
                    <c:v>0.7</c:v>
                  </c:pt>
                  <c:pt idx="6">
                    <c:v>0.65</c:v>
                  </c:pt>
                </c:lvl>
              </c:multiLvlStrCache>
            </c:multiLvlStrRef>
          </c:cat>
          <c:val>
            <c:numRef>
              <c:f>Sheet1!$C$2:$C$8</c:f>
              <c:numCache>
                <c:formatCode>General</c:formatCode>
                <c:ptCount val="7"/>
                <c:pt idx="0">
                  <c:v>3</c:v>
                </c:pt>
                <c:pt idx="1">
                  <c:v>13</c:v>
                </c:pt>
                <c:pt idx="2">
                  <c:v>28</c:v>
                </c:pt>
                <c:pt idx="3">
                  <c:v>44</c:v>
                </c:pt>
                <c:pt idx="4">
                  <c:v>63</c:v>
                </c:pt>
                <c:pt idx="5">
                  <c:v>74</c:v>
                </c:pt>
                <c:pt idx="6">
                  <c:v>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2A3846"/>
            </a:solidFill>
            <a:prstDash val="solid"/>
            <a:round/>
          </a:ln>
        </c:spPr>
        <c:txPr>
          <a:bodyPr/>
          <a:lstStyle/>
          <a:p>
            <a:pPr>
              <a:defRPr sz="1000" b="0" i="0" u="none" strike="noStrike">
                <a:solidFill>
                  <a:srgbClr val="8496AB"/>
                </a:solidFill>
                <a:latin typeface="IBM Plex Mono"/>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A3846"/>
              </a:solidFill>
              <a:prstDash val="solid"/>
              <a:round/>
            </a:ln>
          </c:spPr>
        </c:majorGridlines>
        <c:title>
          <c:tx>
            <c:rich>
              <a:bodyPr/>
              <a:lstStyle/>
              <a:p>
                <a:pPr>
                  <a:defRPr sz="1100" b="0" i="0" u="none" strike="noStrike">
                    <a:solidFill>
                      <a:srgbClr val="8496AB"/>
                    </a:solidFill>
                    <a:latin typeface="IBM Plex Sans"/>
                  </a:defRPr>
                </a:pPr>
                <a:r>
                  <a:rPr sz="1100" b="0" i="0" u="none" strike="noStrike">
                    <a:solidFill>
                      <a:srgbClr val="8496AB"/>
                    </a:solidFill>
                    <a:latin typeface="IBM Plex Sans"/>
                  </a:rPr>
                  <a:t>Served from poison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496AB"/>
                </a:solidFill>
                <a:latin typeface="IBM Plex Mono"/>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8496AB"/>
              </a:solidFill>
              <a:latin typeface="IBM Plex Sans"/>
              <a:cs typeface="IBM Plex Sa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p50</c:v>
                </c:pt>
              </c:strCache>
            </c:strRef>
          </c:tx>
          <c:spPr>
            <a:solidFill>
              <a:srgbClr val="F2A93B"/>
            </a:solidFill>
            <a:effectLst/>
          </c:spPr>
          <c:invertIfNegative val="0"/>
          <c:dLbls>
            <c:numFmt formatCode="#,##0" sourceLinked="0"/>
            <c:txPr>
              <a:bodyPr/>
              <a:lstStyle/>
              <a:p>
                <a:pPr>
                  <a:defRPr b="0" i="0" strike="noStrike" sz="900" u="none">
                    <a:solidFill>
                      <a:srgbClr val="E9EEF5"/>
                    </a:solidFill>
                    <a:latin typeface="IBM Plex Mono"/>
                  </a:defRPr>
                </a:pPr>
              </a:p>
            </c:txPr>
            <c:showLegendKey val="0"/>
            <c:showVal val="1"/>
            <c:showCatName val="0"/>
            <c:showSerName val="0"/>
            <c:showPercent val="0"/>
            <c:showBubbleSize val="0"/>
            <c:showLeaderLines val="0"/>
          </c:dLbls>
          <c:cat>
            <c:multiLvlStrRef>
              <c:f>Sheet1!$A$2:$A$4</c:f>
              <c:multiLvlStrCache>
                <c:ptCount val="3"/>
                <c:lvl>
                  <c:pt idx="0">
                    <c:v>Cache hit</c:v>
                  </c:pt>
                  <c:pt idx="1">
                    <c:v>Miss</c:v>
                  </c:pt>
                  <c:pt idx="2">
                    <c:v>Blocked</c:v>
                  </c:pt>
                </c:lvl>
              </c:multiLvlStrCache>
            </c:multiLvlStrRef>
          </c:cat>
          <c:val>
            <c:numRef>
              <c:f>Sheet1!$B$2:$B$4</c:f>
              <c:numCache>
                <c:formatCode>General</c:formatCode>
                <c:ptCount val="3"/>
                <c:pt idx="0">
                  <c:v>14</c:v>
                </c:pt>
                <c:pt idx="1">
                  <c:v>94</c:v>
                </c:pt>
                <c:pt idx="2">
                  <c:v>84</c:v>
                </c:pt>
              </c:numCache>
            </c:numRef>
          </c:val>
        </c:ser>
        <c:ser>
          <c:idx val="1"/>
          <c:order val="1"/>
          <c:tx>
            <c:strRef>
              <c:f>Sheet1!$C$1</c:f>
              <c:strCache>
                <c:ptCount val="1"/>
                <c:pt idx="0">
                  <c:v>p99</c:v>
                </c:pt>
              </c:strCache>
            </c:strRef>
          </c:tx>
          <c:spPr>
            <a:solidFill>
              <a:srgbClr val="7A5A2E"/>
            </a:solidFill>
            <a:effectLst/>
          </c:spPr>
          <c:invertIfNegative val="0"/>
          <c:dLbls>
            <c:numFmt formatCode="#,##0" sourceLinked="0"/>
            <c:txPr>
              <a:bodyPr/>
              <a:lstStyle/>
              <a:p>
                <a:pPr>
                  <a:defRPr b="0" i="0" strike="noStrike" sz="900" u="none">
                    <a:solidFill>
                      <a:srgbClr val="E9EEF5"/>
                    </a:solidFill>
                    <a:latin typeface="IBM Plex Mono"/>
                  </a:defRPr>
                </a:pPr>
              </a:p>
            </c:txPr>
            <c:showLegendKey val="0"/>
            <c:showVal val="1"/>
            <c:showCatName val="0"/>
            <c:showSerName val="0"/>
            <c:showPercent val="0"/>
            <c:showBubbleSize val="0"/>
            <c:showLeaderLines val="0"/>
          </c:dLbls>
          <c:cat>
            <c:multiLvlStrRef>
              <c:f>Sheet1!$A$2:$A$4</c:f>
              <c:multiLvlStrCache>
                <c:ptCount val="3"/>
                <c:lvl>
                  <c:pt idx="0">
                    <c:v>Cache hit</c:v>
                  </c:pt>
                  <c:pt idx="1">
                    <c:v>Miss</c:v>
                  </c:pt>
                  <c:pt idx="2">
                    <c:v>Blocked</c:v>
                  </c:pt>
                </c:lvl>
              </c:multiLvlStrCache>
            </c:multiLvlStrRef>
          </c:cat>
          <c:val>
            <c:numRef>
              <c:f>Sheet1!$C$2:$C$4</c:f>
              <c:numCache>
                <c:formatCode>General</c:formatCode>
                <c:ptCount val="3"/>
                <c:pt idx="0">
                  <c:v>108</c:v>
                </c:pt>
                <c:pt idx="1">
                  <c:v>265</c:v>
                </c:pt>
                <c:pt idx="2">
                  <c:v>236</c:v>
                </c:pt>
              </c:numCache>
            </c:numRef>
          </c:val>
        </c:ser>
        <c:dLbls>
          <c:numFmt formatCode="#,##0" sourceLinked="0"/>
          <c:txPr>
            <a:bodyPr/>
            <a:lstStyle/>
            <a:p>
              <a:pPr>
                <a:defRPr b="0" i="0" strike="noStrike" sz="900" u="none">
                  <a:solidFill>
                    <a:srgbClr val="E9EEF5"/>
                  </a:solidFill>
                  <a:latin typeface="IBM Plex Mon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846"/>
            </a:solidFill>
            <a:prstDash val="solid"/>
            <a:round/>
          </a:ln>
        </c:spPr>
        <c:txPr>
          <a:bodyPr/>
          <a:lstStyle/>
          <a:p>
            <a:pPr>
              <a:defRPr sz="1000" b="0" i="0" u="none" strike="noStrike">
                <a:solidFill>
                  <a:srgbClr val="8496AB"/>
                </a:solidFill>
                <a:latin typeface="IBM Plex Sa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846"/>
              </a:solidFill>
              <a:prstDash val="solid"/>
              <a:round/>
            </a:ln>
          </c:spPr>
        </c:majorGridlines>
        <c:title>
          <c:tx>
            <c:rich>
              <a:bodyPr/>
              <a:lstStyle/>
              <a:p>
                <a:pPr>
                  <a:defRPr sz="1100" b="0" i="0" u="none" strike="noStrike">
                    <a:solidFill>
                      <a:srgbClr val="8496AB"/>
                    </a:solidFill>
                    <a:latin typeface="IBM Plex Sans"/>
                  </a:defRPr>
                </a:pPr>
                <a:r>
                  <a:rPr sz="1100" b="0" i="0" u="none" strike="noStrike">
                    <a:solidFill>
                      <a:srgbClr val="8496AB"/>
                    </a:solidFill>
                    <a:latin typeface="IBM Plex Sans"/>
                  </a:rPr>
                  <a:t>Response time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496AB"/>
                </a:solidFill>
                <a:latin typeface="IBM Plex Mono"/>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8496AB"/>
              </a:solidFill>
              <a:latin typeface="IBM Plex Sans"/>
              <a:cs typeface="IBM Plex Sa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checkpoint. Phase 1 proved the problem in a script. This one proves it on a real gateway we built, and shows the vulnerable baseline the fix will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of recap from Phase 1, then the turn: that was a script. The question this checkpoint answers is whether it happens on a real running system.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runs today. The cache is checked before the filter, which is the hole. The safety label is already stored next to every answer, but the lookup does not use it yet - that is the Phase 3 fix. The greyed boxes are built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number is earned. Real public datasets, two families of rewording kept apart, everything fired over HTTP at the running gateway, and a bypass counted only when the poison comes back AND the log says the filter never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Read the 0.85 row: at a normal cache setting, 97 percent of lazy rewordings were served the poison. Lazy edits leak at every setting. Full rewrites only match once the cache is loose. Same shape as Phase 1, at large scale on a real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every doubt with the checks. The safe-order row is the one to dwell on: run the exact same build with the filter moved in front of the cache, and the bypass drops to zero. Nothing else changed, so the order is the cause. That is the whole argument for the Phase 3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obvious question: why not just screen everything? Because the cache is seven times faster. This gap, from 25 thousand real requests, is exactly why real systems check the cache first, and so it is the reason the bypass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Phase 3 fix in one idea. Today the cache asks one question. We add a second: was the original safe. The label is already stored, so the fix is a filter on a search that already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where this checkpoint sits. Phase 2 is done. Phase 3 builds the fix and shows it beat this baseline, live. End of Phase 2 is exactly the right place to have a measured, vulnerable baseline and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sentence and stop. The demo is one command if there is time; the recorded capture is the fallback.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41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1920240"/>
            <a:ext cx="10058400" cy="365760"/>
          </a:xfrm>
          <a:prstGeom prst="rect">
            <a:avLst/>
          </a:prstGeom>
          <a:noFill/>
          <a:ln/>
        </p:spPr>
        <p:txBody>
          <a:bodyPr wrap="square" rtlCol="0" anchor="ctr"/>
          <a:lstStyle/>
          <a:p>
            <a:pPr indent="0" marL="0">
              <a:buNone/>
            </a:pPr>
            <a:r>
              <a:rPr lang="en-US" sz="1300" b="1" spc="200" kern="0" dirty="0">
                <a:solidFill>
                  <a:srgbClr val="F2A93B"/>
                </a:solidFill>
                <a:latin typeface="IBM Plex Mono" pitchFamily="34" charset="0"/>
                <a:ea typeface="IBM Plex Mono" pitchFamily="34" charset="-122"/>
                <a:cs typeface="IBM Plex Mono" pitchFamily="34" charset="-120"/>
              </a:rPr>
              <a:t>PROGRESS EVAL-1  ·  PHASE 2</a:t>
            </a:r>
            <a:endParaRPr lang="en-US" sz="1300" dirty="0"/>
          </a:p>
        </p:txBody>
      </p:sp>
      <p:sp>
        <p:nvSpPr>
          <p:cNvPr id="5" name="Shape 2"/>
          <p:cNvSpPr/>
          <p:nvPr/>
        </p:nvSpPr>
        <p:spPr>
          <a:xfrm>
            <a:off x="640080" y="2423160"/>
            <a:ext cx="1097280" cy="45720"/>
          </a:xfrm>
          <a:prstGeom prst="rect">
            <a:avLst/>
          </a:prstGeom>
          <a:solidFill>
            <a:srgbClr val="F2A93B"/>
          </a:solidFill>
          <a:ln/>
        </p:spPr>
      </p:sp>
      <p:sp>
        <p:nvSpPr>
          <p:cNvPr id="6" name="Text 3"/>
          <p:cNvSpPr txBox="1"/>
          <p:nvPr/>
        </p:nvSpPr>
        <p:spPr>
          <a:xfrm>
            <a:off x="640080" y="2606040"/>
            <a:ext cx="10058400" cy="1737360"/>
          </a:xfrm>
          <a:prstGeom prst="rect">
            <a:avLst/>
          </a:prstGeom>
          <a:noFill/>
          <a:ln/>
        </p:spPr>
        <p:txBody>
          <a:bodyPr wrap="square" rtlCol="0" anchor="ctr"/>
          <a:lstStyle/>
          <a:p>
            <a:pPr indent="0" marL="0">
              <a:lnSpc>
                <a:spcPct val="100000"/>
              </a:lnSpc>
              <a:buNone/>
            </a:pPr>
            <a:r>
              <a:rPr lang="en-US" sz="5200" b="1" dirty="0">
                <a:solidFill>
                  <a:srgbClr val="E9EEF5"/>
                </a:solidFill>
                <a:latin typeface="IBM Plex Sans" pitchFamily="34" charset="0"/>
                <a:ea typeface="IBM Plex Sans" pitchFamily="34" charset="-122"/>
                <a:cs typeface="IBM Plex Sans" pitchFamily="34" charset="-120"/>
              </a:rPr>
              <a:t>The bypass, now on</a:t>
            </a:r>
            <a:endParaRPr lang="en-US" sz="5200" dirty="0"/>
          </a:p>
          <a:p>
            <a:pPr indent="0" marL="0">
              <a:lnSpc>
                <a:spcPct val="100000"/>
              </a:lnSpc>
              <a:buNone/>
            </a:pPr>
            <a:r>
              <a:rPr lang="en-US" sz="5200" b="1" dirty="0">
                <a:solidFill>
                  <a:srgbClr val="E9EEF5"/>
                </a:solidFill>
                <a:latin typeface="IBM Plex Sans" pitchFamily="34" charset="0"/>
                <a:ea typeface="IBM Plex Sans" pitchFamily="34" charset="-122"/>
                <a:cs typeface="IBM Plex Sans" pitchFamily="34" charset="-120"/>
              </a:rPr>
              <a:t>our own gateway.</a:t>
            </a:r>
            <a:endParaRPr lang="en-US" sz="5200" dirty="0"/>
          </a:p>
        </p:txBody>
      </p:sp>
      <p:sp>
        <p:nvSpPr>
          <p:cNvPr id="7" name="Text 4"/>
          <p:cNvSpPr txBox="1"/>
          <p:nvPr/>
        </p:nvSpPr>
        <p:spPr>
          <a:xfrm>
            <a:off x="640080" y="4434840"/>
            <a:ext cx="9601200" cy="731520"/>
          </a:xfrm>
          <a:prstGeom prst="rect">
            <a:avLst/>
          </a:prstGeom>
          <a:noFill/>
          <a:ln/>
        </p:spPr>
        <p:txBody>
          <a:bodyPr wrap="square" rtlCol="0" anchor="ctr"/>
          <a:lstStyle/>
          <a:p>
            <a:pPr indent="0" marL="0">
              <a:buNone/>
            </a:pPr>
            <a:r>
              <a:rPr lang="en-US" sz="1700" dirty="0">
                <a:solidFill>
                  <a:srgbClr val="8496AB"/>
                </a:solidFill>
                <a:latin typeface="IBM Plex Sans" pitchFamily="34" charset="0"/>
                <a:ea typeface="IBM Plex Sans" pitchFamily="34" charset="-122"/>
                <a:cs typeface="IBM Plex Sans" pitchFamily="34" charset="-120"/>
              </a:rPr>
              <a:t>We built the gateway, and reproduced the cache bypass on it — with the real filter, the real embedder, and real Qdrant and Redis.</a:t>
            </a:r>
            <a:endParaRPr lang="en-US" sz="1700" dirty="0"/>
          </a:p>
        </p:txBody>
      </p:sp>
      <p:sp>
        <p:nvSpPr>
          <p:cNvPr id="8" name="Text 5"/>
          <p:cNvSpPr txBox="1"/>
          <p:nvPr/>
        </p:nvSpPr>
        <p:spPr>
          <a:xfrm>
            <a:off x="640080" y="5394960"/>
            <a:ext cx="3474720" cy="274320"/>
          </a:xfrm>
          <a:prstGeom prst="rect">
            <a:avLst/>
          </a:prstGeom>
          <a:noFill/>
          <a:ln/>
        </p:spPr>
        <p:txBody>
          <a:bodyPr wrap="square" rtlCol="0" anchor="ctr"/>
          <a:lstStyle/>
          <a:p>
            <a:pPr indent="0" marL="0">
              <a:buNone/>
            </a:pPr>
            <a:r>
              <a:rPr lang="en-US" sz="1000" spc="100" kern="0" dirty="0">
                <a:solidFill>
                  <a:srgbClr val="8496AB"/>
                </a:solidFill>
                <a:latin typeface="IBM Plex Mono" pitchFamily="34" charset="0"/>
                <a:ea typeface="IBM Plex Mono" pitchFamily="34" charset="-122"/>
                <a:cs typeface="IBM Plex Mono" pitchFamily="34" charset="-120"/>
              </a:rPr>
              <a:t>TEAM</a:t>
            </a:r>
            <a:endParaRPr lang="en-US" sz="1000" dirty="0"/>
          </a:p>
        </p:txBody>
      </p:sp>
      <p:sp>
        <p:nvSpPr>
          <p:cNvPr id="9" name="Text 6"/>
          <p:cNvSpPr txBox="1"/>
          <p:nvPr/>
        </p:nvSpPr>
        <p:spPr>
          <a:xfrm>
            <a:off x="640080" y="5669280"/>
            <a:ext cx="3474720" cy="457200"/>
          </a:xfrm>
          <a:prstGeom prst="rect">
            <a:avLst/>
          </a:prstGeom>
          <a:noFill/>
          <a:ln/>
        </p:spPr>
        <p:txBody>
          <a:bodyPr wrap="square" rtlCol="0" anchor="ctr"/>
          <a:lstStyle/>
          <a:p>
            <a:pPr indent="0" marL="0">
              <a:buNone/>
            </a:pPr>
            <a:r>
              <a:rPr lang="en-US" sz="1200" b="1" dirty="0">
                <a:solidFill>
                  <a:srgbClr val="E9EEF5"/>
                </a:solidFill>
                <a:latin typeface="IBM Plex Sans" pitchFamily="34" charset="0"/>
                <a:ea typeface="IBM Plex Sans" pitchFamily="34" charset="-122"/>
                <a:cs typeface="IBM Plex Sans" pitchFamily="34" charset="-120"/>
              </a:rPr>
              <a:t>Divyansh Sharma · Sarvagya Dabas · Yashvit Gauri</a:t>
            </a:r>
            <a:endParaRPr lang="en-US" sz="1200" dirty="0"/>
          </a:p>
        </p:txBody>
      </p:sp>
      <p:sp>
        <p:nvSpPr>
          <p:cNvPr id="10" name="Text 7"/>
          <p:cNvSpPr txBox="1"/>
          <p:nvPr/>
        </p:nvSpPr>
        <p:spPr>
          <a:xfrm>
            <a:off x="4297680" y="5394960"/>
            <a:ext cx="3474720" cy="274320"/>
          </a:xfrm>
          <a:prstGeom prst="rect">
            <a:avLst/>
          </a:prstGeom>
          <a:noFill/>
          <a:ln/>
        </p:spPr>
        <p:txBody>
          <a:bodyPr wrap="square" rtlCol="0" anchor="ctr"/>
          <a:lstStyle/>
          <a:p>
            <a:pPr indent="0" marL="0">
              <a:buNone/>
            </a:pPr>
            <a:r>
              <a:rPr lang="en-US" sz="1000" spc="100" kern="0" dirty="0">
                <a:solidFill>
                  <a:srgbClr val="8496AB"/>
                </a:solidFill>
                <a:latin typeface="IBM Plex Mono" pitchFamily="34" charset="0"/>
                <a:ea typeface="IBM Plex Mono" pitchFamily="34" charset="-122"/>
                <a:cs typeface="IBM Plex Mono" pitchFamily="34" charset="-120"/>
              </a:rPr>
              <a:t>WINDOW</a:t>
            </a:r>
            <a:endParaRPr lang="en-US" sz="1000" dirty="0"/>
          </a:p>
        </p:txBody>
      </p:sp>
      <p:sp>
        <p:nvSpPr>
          <p:cNvPr id="11" name="Text 8"/>
          <p:cNvSpPr txBox="1"/>
          <p:nvPr/>
        </p:nvSpPr>
        <p:spPr>
          <a:xfrm>
            <a:off x="4297680" y="5669280"/>
            <a:ext cx="3474720" cy="457200"/>
          </a:xfrm>
          <a:prstGeom prst="rect">
            <a:avLst/>
          </a:prstGeom>
          <a:noFill/>
          <a:ln/>
        </p:spPr>
        <p:txBody>
          <a:bodyPr wrap="square" rtlCol="0" anchor="ctr"/>
          <a:lstStyle/>
          <a:p>
            <a:pPr indent="0" marL="0">
              <a:buNone/>
            </a:pPr>
            <a:r>
              <a:rPr lang="en-US" sz="1200" b="1" dirty="0">
                <a:solidFill>
                  <a:srgbClr val="E9EEF5"/>
                </a:solidFill>
                <a:latin typeface="IBM Plex Sans" pitchFamily="34" charset="0"/>
                <a:ea typeface="IBM Plex Sans" pitchFamily="34" charset="-122"/>
                <a:cs typeface="IBM Plex Sans" pitchFamily="34" charset="-120"/>
              </a:rPr>
              <a:t>23 Aug – 26 Sep</a:t>
            </a:r>
            <a:endParaRPr lang="en-US" sz="1200" dirty="0"/>
          </a:p>
        </p:txBody>
      </p:sp>
      <p:sp>
        <p:nvSpPr>
          <p:cNvPr id="12" name="Text 9"/>
          <p:cNvSpPr txBox="1"/>
          <p:nvPr/>
        </p:nvSpPr>
        <p:spPr>
          <a:xfrm>
            <a:off x="7955280" y="5394960"/>
            <a:ext cx="3474720" cy="274320"/>
          </a:xfrm>
          <a:prstGeom prst="rect">
            <a:avLst/>
          </a:prstGeom>
          <a:noFill/>
          <a:ln/>
        </p:spPr>
        <p:txBody>
          <a:bodyPr wrap="square" rtlCol="0" anchor="ctr"/>
          <a:lstStyle/>
          <a:p>
            <a:pPr indent="0" marL="0">
              <a:buNone/>
            </a:pPr>
            <a:r>
              <a:rPr lang="en-US" sz="1000" spc="100" kern="0" dirty="0">
                <a:solidFill>
                  <a:srgbClr val="8496AB"/>
                </a:solidFill>
                <a:latin typeface="IBM Plex Mono" pitchFamily="34" charset="0"/>
                <a:ea typeface="IBM Plex Mono" pitchFamily="34" charset="-122"/>
                <a:cs typeface="IBM Plex Mono" pitchFamily="34" charset="-120"/>
              </a:rPr>
              <a:t>STATE</a:t>
            </a:r>
            <a:endParaRPr lang="en-US" sz="1000" dirty="0"/>
          </a:p>
        </p:txBody>
      </p:sp>
      <p:sp>
        <p:nvSpPr>
          <p:cNvPr id="13" name="Text 10"/>
          <p:cNvSpPr txBox="1"/>
          <p:nvPr/>
        </p:nvSpPr>
        <p:spPr>
          <a:xfrm>
            <a:off x="7955280" y="5669280"/>
            <a:ext cx="3474720" cy="457200"/>
          </a:xfrm>
          <a:prstGeom prst="rect">
            <a:avLst/>
          </a:prstGeom>
          <a:noFill/>
          <a:ln/>
        </p:spPr>
        <p:txBody>
          <a:bodyPr wrap="square" rtlCol="0" anchor="ctr"/>
          <a:lstStyle/>
          <a:p>
            <a:pPr indent="0" marL="0">
              <a:buNone/>
            </a:pPr>
            <a:r>
              <a:rPr lang="en-US" sz="1200" b="1" dirty="0">
                <a:solidFill>
                  <a:srgbClr val="E9EEF5"/>
                </a:solidFill>
                <a:latin typeface="IBM Plex Sans" pitchFamily="34" charset="0"/>
                <a:ea typeface="IBM Plex Sans" pitchFamily="34" charset="-122"/>
                <a:cs typeface="IBM Plex Sans" pitchFamily="34" charset="-120"/>
              </a:rPr>
              <a:t>Phase 2 complete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WHERE WE LEFT OFF</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Phase 1 proved the problem in a script.</a:t>
            </a:r>
            <a:endParaRPr lang="en-US" sz="3300" dirty="0"/>
          </a:p>
        </p:txBody>
      </p:sp>
      <p:sp>
        <p:nvSpPr>
          <p:cNvPr id="6" name="Shape 3"/>
          <p:cNvSpPr/>
          <p:nvPr/>
        </p:nvSpPr>
        <p:spPr>
          <a:xfrm>
            <a:off x="640080" y="2377440"/>
            <a:ext cx="10881360" cy="1737360"/>
          </a:xfrm>
          <a:prstGeom prst="roundRect">
            <a:avLst>
              <a:gd name="adj" fmla="val 4211"/>
            </a:avLst>
          </a:prstGeom>
          <a:solidFill>
            <a:srgbClr val="16202C"/>
          </a:solidFill>
          <a:ln w="12700">
            <a:solidFill>
              <a:srgbClr val="2A3846"/>
            </a:solidFill>
            <a:prstDash val="solid"/>
          </a:ln>
        </p:spPr>
      </p:sp>
      <p:sp>
        <p:nvSpPr>
          <p:cNvPr id="7" name="Text 4"/>
          <p:cNvSpPr txBox="1"/>
          <p:nvPr/>
        </p:nvSpPr>
        <p:spPr>
          <a:xfrm>
            <a:off x="1097280" y="2606040"/>
            <a:ext cx="9966960" cy="1280160"/>
          </a:xfrm>
          <a:prstGeom prst="rect">
            <a:avLst/>
          </a:prstGeom>
          <a:noFill/>
          <a:ln/>
        </p:spPr>
        <p:txBody>
          <a:bodyPr wrap="square" rtlCol="0" anchor="ctr"/>
          <a:lstStyle/>
          <a:p>
            <a:pPr indent="0" marL="0">
              <a:lnSpc>
                <a:spcPct val="115000"/>
              </a:lnSpc>
              <a:buNone/>
            </a:pPr>
            <a:r>
              <a:rPr lang="en-US" sz="2400" i="1" dirty="0">
                <a:solidFill>
                  <a:srgbClr val="E9EEF5"/>
                </a:solidFill>
                <a:latin typeface="IBM Plex Sans" pitchFamily="34" charset="0"/>
                <a:ea typeface="IBM Plex Sans" pitchFamily="34" charset="-122"/>
                <a:cs typeface="IBM Plex Sans" pitchFamily="34" charset="-120"/>
              </a:rPr>
              <a:t>“A cache hit returns before the safety filter is ever asked</a:t>
            </a:r>
            <a:pPr indent="0" marL="0">
              <a:lnSpc>
                <a:spcPct val="115000"/>
              </a:lnSpc>
              <a:buNone/>
            </a:pPr>
            <a:r>
              <a:rPr lang="en-US" sz="2400" i="1" dirty="0">
                <a:solidFill>
                  <a:srgbClr val="E9EEF5"/>
                </a:solidFill>
                <a:latin typeface="IBM Plex Sans" pitchFamily="34" charset="0"/>
                <a:ea typeface="IBM Plex Sans" pitchFamily="34" charset="-122"/>
                <a:cs typeface="IBM Plex Sans" pitchFamily="34" charset="-120"/>
              </a:rPr>
              <a:t> — so a reworded attack can be served an answer the filter would have blocked.”</a:t>
            </a:r>
            <a:endParaRPr lang="en-US" sz="2400" dirty="0"/>
          </a:p>
        </p:txBody>
      </p:sp>
      <p:sp>
        <p:nvSpPr>
          <p:cNvPr id="8" name="Text 5"/>
          <p:cNvSpPr txBox="1"/>
          <p:nvPr/>
        </p:nvSpPr>
        <p:spPr>
          <a:xfrm>
            <a:off x="640080" y="4480560"/>
            <a:ext cx="10058400" cy="548640"/>
          </a:xfrm>
          <a:prstGeom prst="rect">
            <a:avLst/>
          </a:prstGeom>
          <a:noFill/>
          <a:ln/>
        </p:spPr>
        <p:txBody>
          <a:bodyPr wrap="square" rtlCol="0" anchor="ctr"/>
          <a:lstStyle/>
          <a:p>
            <a:pPr indent="0" marL="0">
              <a:buNone/>
            </a:pPr>
            <a:r>
              <a:rPr lang="en-US" sz="1800" dirty="0">
                <a:solidFill>
                  <a:srgbClr val="8496AB"/>
                </a:solidFill>
                <a:latin typeface="IBM Plex Sans" pitchFamily="34" charset="0"/>
                <a:ea typeface="IBM Plex Sans" pitchFamily="34" charset="-122"/>
                <a:cs typeface="IBM Plex Sans" pitchFamily="34" charset="-120"/>
              </a:rPr>
              <a:t>This checkpoint answers one question: does it happen on a </a:t>
            </a:r>
            <a:pPr indent="0" marL="0">
              <a:buNone/>
            </a:pPr>
            <a:r>
              <a:rPr lang="en-US" sz="1800" b="1" dirty="0">
                <a:solidFill>
                  <a:srgbClr val="E9EEF5"/>
                </a:solidFill>
                <a:latin typeface="IBM Plex Sans" pitchFamily="34" charset="0"/>
                <a:ea typeface="IBM Plex Sans" pitchFamily="34" charset="-122"/>
                <a:cs typeface="IBM Plex Sans" pitchFamily="34" charset="-120"/>
              </a:rPr>
              <a:t>real running system</a:t>
            </a:r>
            <a:pPr indent="0" marL="0">
              <a:buNone/>
            </a:pPr>
            <a:r>
              <a:rPr lang="en-US" sz="1800" dirty="0">
                <a:solidFill>
                  <a:srgbClr val="8496AB"/>
                </a:solidFill>
                <a:latin typeface="IBM Plex Sans" pitchFamily="34" charset="0"/>
                <a:ea typeface="IBM Plex Sans" pitchFamily="34" charset="-122"/>
                <a:cs typeface="IBM Plex Sans" pitchFamily="34" charset="-120"/>
              </a:rPr>
              <a:t>? It does.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WHAT WE BUILT</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A real gateway. This is what runs today.</a:t>
            </a:r>
            <a:endParaRPr lang="en-US" sz="3300" dirty="0"/>
          </a:p>
        </p:txBody>
      </p:sp>
      <p:sp>
        <p:nvSpPr>
          <p:cNvPr id="6" name="Shape 3"/>
          <p:cNvSpPr/>
          <p:nvPr/>
        </p:nvSpPr>
        <p:spPr>
          <a:xfrm>
            <a:off x="640080" y="2148840"/>
            <a:ext cx="10881360" cy="3108960"/>
          </a:xfrm>
          <a:prstGeom prst="roundRect">
            <a:avLst>
              <a:gd name="adj" fmla="val 1765"/>
            </a:avLst>
          </a:prstGeom>
          <a:solidFill>
            <a:srgbClr val="FFFFFF"/>
          </a:solidFill>
          <a:ln/>
        </p:spPr>
      </p:sp>
      <p:pic>
        <p:nvPicPr>
          <p:cNvPr id="7" name="Image 0" descr="preencoded.png">    </p:cNvPr>
          <p:cNvPicPr>
            <a:picLocks noChangeAspect="1"/>
          </p:cNvPicPr>
          <p:nvPr/>
        </p:nvPicPr>
        <p:blipFill>
          <a:blip r:embed="rId1"/>
          <a:srcRect l="0" r="0" t="0" b="0"/>
          <a:stretch/>
        </p:blipFill>
        <p:spPr>
          <a:xfrm>
            <a:off x="777240" y="2286000"/>
            <a:ext cx="10607040" cy="2834640"/>
          </a:xfrm>
          <a:prstGeom prst="rect">
            <a:avLst/>
          </a:prstGeom>
        </p:spPr>
      </p:pic>
      <p:sp>
        <p:nvSpPr>
          <p:cNvPr id="8" name="Text 4"/>
          <p:cNvSpPr txBox="1"/>
          <p:nvPr/>
        </p:nvSpPr>
        <p:spPr>
          <a:xfrm>
            <a:off x="640080" y="5897880"/>
            <a:ext cx="10881360" cy="548640"/>
          </a:xfrm>
          <a:prstGeom prst="rect">
            <a:avLst/>
          </a:prstGeom>
          <a:noFill/>
          <a:ln/>
        </p:spPr>
        <p:txBody>
          <a:bodyPr wrap="square" rtlCol="0" anchor="ctr"/>
          <a:lstStyle/>
          <a:p>
            <a:pPr indent="0" marL="0">
              <a:lnSpc>
                <a:spcPct val="115000"/>
              </a:lnSpc>
              <a:buNone/>
            </a:pPr>
            <a:r>
              <a:rPr lang="en-US" sz="1250" dirty="0">
                <a:solidFill>
                  <a:srgbClr val="8496AB"/>
                </a:solidFill>
                <a:latin typeface="IBM Plex Sans" pitchFamily="34" charset="0"/>
                <a:ea typeface="IBM Plex Sans" pitchFamily="34" charset="-122"/>
                <a:cs typeface="IBM Plex Sans" pitchFamily="34" charset="-120"/>
              </a:rPr>
              <a:t>OpenAI-compatible API behind nginx, in Docker. The cache is checked before the filter — that is the hole. The safety label is already saved with every answer, ready for the fix.</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THE EXPERIMENT</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239 real attacks, </a:t>
            </a:r>
            <a:pPr indent="0" marL="0">
              <a:lnSpc>
                <a:spcPct val="102000"/>
              </a:lnSpc>
              <a:buNone/>
            </a:pPr>
            <a:r>
              <a:rPr lang="en-US" sz="3300" b="1" dirty="0">
                <a:solidFill>
                  <a:srgbClr val="F2A93B"/>
                </a:solidFill>
                <a:latin typeface="IBM Plex Sans" pitchFamily="34" charset="0"/>
                <a:ea typeface="IBM Plex Sans" pitchFamily="34" charset="-122"/>
                <a:cs typeface="IBM Plex Sans" pitchFamily="34" charset="-120"/>
              </a:rPr>
              <a:t>2,838 rewordings</a:t>
            </a:r>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 on the live gateway.</a:t>
            </a:r>
            <a:endParaRPr lang="en-US" sz="3300" dirty="0"/>
          </a:p>
        </p:txBody>
      </p:sp>
      <p:sp>
        <p:nvSpPr>
          <p:cNvPr id="6" name="Text 3"/>
          <p:cNvSpPr txBox="1"/>
          <p:nvPr/>
        </p:nvSpPr>
        <p:spPr>
          <a:xfrm>
            <a:off x="640080" y="2468880"/>
            <a:ext cx="5669280" cy="2743200"/>
          </a:xfrm>
          <a:prstGeom prst="rect">
            <a:avLst/>
          </a:prstGeom>
          <a:noFill/>
          <a:ln/>
        </p:spPr>
        <p:txBody>
          <a:bodyPr wrap="square" rtlCol="0" anchor="ctr"/>
          <a:lstStyle/>
          <a:p>
            <a:pPr marL="228600" indent="-228600">
              <a:lnSpc>
                <a:spcPct val="110000"/>
              </a:lnSpc>
              <a:spcAft>
                <a:spcPts val="1000"/>
              </a:spcAft>
              <a:buSzPct val="100000"/>
              <a:buChar char="•"/>
            </a:pPr>
            <a:r>
              <a:rPr lang="en-US" sz="1600" dirty="0">
                <a:solidFill>
                  <a:srgbClr val="E9EEF5"/>
                </a:solidFill>
                <a:latin typeface="IBM Plex Sans" pitchFamily="34" charset="0"/>
                <a:ea typeface="IBM Plex Sans" pitchFamily="34" charset="-122"/>
                <a:cs typeface="IBM Plex Sans" pitchFamily="34" charset="-120"/>
              </a:rPr>
              <a:t>Seeds from two public datasets: deepset/prompt-injections and jayavibhav/prompt-injection.</a:t>
            </a:r>
            <a:endParaRPr lang="en-US" sz="1600" dirty="0"/>
          </a:p>
          <a:p>
            <a:pPr marL="228600" indent="-228600">
              <a:lnSpc>
                <a:spcPct val="110000"/>
              </a:lnSpc>
              <a:spcAft>
                <a:spcPts val="1000"/>
              </a:spcAft>
              <a:buSzPct val="100000"/>
              <a:buChar char="•"/>
            </a:pPr>
            <a:r>
              <a:rPr lang="en-US" sz="1600" dirty="0">
                <a:solidFill>
                  <a:srgbClr val="E9EEF5"/>
                </a:solidFill>
                <a:latin typeface="IBM Plex Sans" pitchFamily="34" charset="0"/>
                <a:ea typeface="IBM Plex Sans" pitchFamily="34" charset="-122"/>
                <a:cs typeface="IBM Plex Sans" pitchFamily="34" charset="-120"/>
              </a:rPr>
              <a:t>Two families, kept apart: lazy edits (capitals, punctuation, a filler word) and full rewrites (real paraphrases).</a:t>
            </a:r>
            <a:endParaRPr lang="en-US" sz="1600" dirty="0"/>
          </a:p>
          <a:p>
            <a:pPr marL="228600" indent="-228600">
              <a:lnSpc>
                <a:spcPct val="110000"/>
              </a:lnSpc>
              <a:buSzPct val="100000"/>
              <a:buChar char="•"/>
            </a:pPr>
            <a:r>
              <a:rPr lang="en-US" sz="1600" dirty="0">
                <a:solidFill>
                  <a:srgbClr val="E9EEF5"/>
                </a:solidFill>
                <a:latin typeface="IBM Plex Sans" pitchFamily="34" charset="0"/>
                <a:ea typeface="IBM Plex Sans" pitchFamily="34" charset="-122"/>
                <a:cs typeface="IBM Plex Sans" pitchFamily="34" charset="-120"/>
              </a:rPr>
              <a:t>Every variant fired over HTTP at the running gateway.</a:t>
            </a:r>
            <a:endParaRPr lang="en-US" sz="1600" dirty="0"/>
          </a:p>
        </p:txBody>
      </p:sp>
      <p:sp>
        <p:nvSpPr>
          <p:cNvPr id="7" name="Shape 4"/>
          <p:cNvSpPr/>
          <p:nvPr/>
        </p:nvSpPr>
        <p:spPr>
          <a:xfrm>
            <a:off x="6766560" y="2377440"/>
            <a:ext cx="4754880" cy="2743200"/>
          </a:xfrm>
          <a:prstGeom prst="roundRect">
            <a:avLst>
              <a:gd name="adj" fmla="val 2667"/>
            </a:avLst>
          </a:prstGeom>
          <a:solidFill>
            <a:srgbClr val="16202C"/>
          </a:solidFill>
          <a:ln w="15875">
            <a:solidFill>
              <a:srgbClr val="F2A93B"/>
            </a:solidFill>
            <a:prstDash val="solid"/>
          </a:ln>
        </p:spPr>
      </p:sp>
      <p:sp>
        <p:nvSpPr>
          <p:cNvPr id="8" name="Text 5"/>
          <p:cNvSpPr txBox="1"/>
          <p:nvPr/>
        </p:nvSpPr>
        <p:spPr>
          <a:xfrm>
            <a:off x="7040880" y="2606040"/>
            <a:ext cx="4206240" cy="457200"/>
          </a:xfrm>
          <a:prstGeom prst="rect">
            <a:avLst/>
          </a:prstGeom>
          <a:noFill/>
          <a:ln/>
        </p:spPr>
        <p:txBody>
          <a:bodyPr wrap="square" rtlCol="0" anchor="ctr"/>
          <a:lstStyle/>
          <a:p>
            <a:pPr indent="0" marL="0">
              <a:buNone/>
            </a:pPr>
            <a:r>
              <a:rPr lang="en-US" sz="1100" b="1" spc="100" kern="0" dirty="0">
                <a:solidFill>
                  <a:srgbClr val="F2A93B"/>
                </a:solidFill>
                <a:latin typeface="IBM Plex Mono" pitchFamily="34" charset="0"/>
                <a:ea typeface="IBM Plex Mono" pitchFamily="34" charset="-122"/>
                <a:cs typeface="IBM Plex Mono" pitchFamily="34" charset="-120"/>
              </a:rPr>
              <a:t>A BYPASS IS COUNTED ONLY WHEN BOTH ARE TRUE</a:t>
            </a:r>
            <a:endParaRPr lang="en-US" sz="1100" dirty="0"/>
          </a:p>
        </p:txBody>
      </p:sp>
      <p:sp>
        <p:nvSpPr>
          <p:cNvPr id="9" name="Text 6"/>
          <p:cNvSpPr txBox="1"/>
          <p:nvPr/>
        </p:nvSpPr>
        <p:spPr>
          <a:xfrm>
            <a:off x="7040880" y="3063240"/>
            <a:ext cx="4206240" cy="1828800"/>
          </a:xfrm>
          <a:prstGeom prst="rect">
            <a:avLst/>
          </a:prstGeom>
          <a:noFill/>
          <a:ln/>
        </p:spPr>
        <p:txBody>
          <a:bodyPr wrap="square" rtlCol="0" anchor="ctr"/>
          <a:lstStyle/>
          <a:p>
            <a:pPr indent="0" marL="0">
              <a:lnSpc>
                <a:spcPct val="110000"/>
              </a:lnSpc>
              <a:buNone/>
            </a:pPr>
            <a:r>
              <a:rPr lang="en-US" sz="1600" dirty="0">
                <a:solidFill>
                  <a:srgbClr val="E9EEF5"/>
                </a:solidFill>
                <a:latin typeface="IBM Plex Sans" pitchFamily="34" charset="0"/>
                <a:ea typeface="IBM Plex Sans" pitchFamily="34" charset="-122"/>
                <a:cs typeface="IBM Plex Sans" pitchFamily="34" charset="-120"/>
              </a:rPr>
              <a:t>The poisoned answer comes back, and
</a:t>
            </a:r>
            <a:pPr indent="0" marL="0">
              <a:lnSpc>
                <a:spcPct val="110000"/>
              </a:lnSpc>
              <a:buNone/>
            </a:pPr>
            <a:r>
              <a:rPr lang="en-US" sz="1600" dirty="0">
                <a:solidFill>
                  <a:srgbClr val="E9EEF5"/>
                </a:solidFill>
                <a:latin typeface="IBM Plex Sans" pitchFamily="34" charset="0"/>
                <a:ea typeface="IBM Plex Sans" pitchFamily="34" charset="-122"/>
                <a:cs typeface="IBM Plex Sans" pitchFamily="34" charset="-120"/>
              </a:rPr>
              <a:t>the gateway's own log says </a:t>
            </a:r>
            <a:pPr indent="0" marL="0">
              <a:lnSpc>
                <a:spcPct val="110000"/>
              </a:lnSpc>
              <a:buNone/>
            </a:pPr>
            <a:r>
              <a:rPr lang="en-US" sz="1600" dirty="0">
                <a:solidFill>
                  <a:srgbClr val="4CC38A"/>
                </a:solidFill>
                <a:latin typeface="IBM Plex Mono" pitchFamily="34" charset="0"/>
                <a:ea typeface="IBM Plex Mono" pitchFamily="34" charset="-122"/>
                <a:cs typeface="IBM Plex Mono" pitchFamily="34" charset="-120"/>
              </a:rPr>
              <a:t>screening_ran = false</a:t>
            </a:r>
            <a:pPr indent="0" marL="0">
              <a:lnSpc>
                <a:spcPct val="110000"/>
              </a:lnSpc>
              <a:buNone/>
            </a:pPr>
            <a:r>
              <a:rPr lang="en-US" sz="1600" dirty="0">
                <a:solidFill>
                  <a:srgbClr val="000000"/>
                </a:solidFill>
                <a:latin typeface="IBM Plex Sans" pitchFamily="34" charset="0"/>
                <a:ea typeface="IBM Plex Sans" pitchFamily="34" charset="-122"/>
                <a:cs typeface="IBM Plex Sans" pitchFamily="34" charset="-120"/>
              </a:rPr>
              <a:t>.
</a:t>
            </a:r>
            <a:pPr indent="0" marL="0">
              <a:lnSpc>
                <a:spcPct val="110000"/>
              </a:lnSpc>
              <a:buNone/>
            </a:pPr>
            <a:r>
              <a:rPr lang="en-US" sz="1300" dirty="0">
                <a:solidFill>
                  <a:srgbClr val="8496AB"/>
                </a:solidFill>
                <a:latin typeface="IBM Plex Sans" pitchFamily="34" charset="0"/>
                <a:ea typeface="IBM Plex Sans" pitchFamily="34" charset="-122"/>
                <a:cs typeface="IBM Plex Sans" pitchFamily="34" charset="-120"/>
              </a:rPr>
              <a:t>The claim is read from the log, not from our code.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THE RESULT</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At a normal setting, </a:t>
            </a:r>
            <a:pPr indent="0" marL="0">
              <a:lnSpc>
                <a:spcPct val="102000"/>
              </a:lnSpc>
              <a:buNone/>
            </a:pPr>
            <a:r>
              <a:rPr lang="en-US" sz="3300" b="1" dirty="0">
                <a:solidFill>
                  <a:srgbClr val="F2A93B"/>
                </a:solidFill>
                <a:latin typeface="IBM Plex Sans" pitchFamily="34" charset="0"/>
                <a:ea typeface="IBM Plex Sans" pitchFamily="34" charset="-122"/>
                <a:cs typeface="IBM Plex Sans" pitchFamily="34" charset="-120"/>
              </a:rPr>
              <a:t>97%</a:t>
            </a:r>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 of lazy attacks got through.</a:t>
            </a:r>
            <a:endParaRPr lang="en-US" sz="3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4937760" cy="914400"/>
        </p:xfrm>
        <a:graphic>
          <a:graphicData uri="http://schemas.openxmlformats.org/drawingml/2006/table">
            <a:tbl>
              <a:tblPr/>
              <a:tblGrid>
                <a:gridCol w="1371600"/>
                <a:gridCol w="1188720"/>
                <a:gridCol w="1188720"/>
                <a:gridCol w="1188720"/>
              </a:tblGrid>
              <a:tr h="310896">
                <a:tc>
                  <a:txBody>
                    <a:bodyPr/>
                    <a:lstStyle/>
                    <a:p>
                      <a:pPr algn="ctr" indent="0" marL="0">
                        <a:buNone/>
                      </a:pPr>
                      <a:r>
                        <a:rPr lang="en-US" sz="1100" b="1" dirty="0">
                          <a:solidFill>
                            <a:srgbClr val="8496AB"/>
                          </a:solidFill>
                          <a:latin typeface="IBM Plex Mono" pitchFamily="34" charset="0"/>
                          <a:ea typeface="IBM Plex Mono" pitchFamily="34" charset="-122"/>
                          <a:cs typeface="IBM Plex Mono" pitchFamily="34" charset="-120"/>
                        </a:rPr>
                        <a:t>Cut-off</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100" b="1" dirty="0">
                          <a:solidFill>
                            <a:srgbClr val="8496AB"/>
                          </a:solidFill>
                          <a:latin typeface="IBM Plex Mono" pitchFamily="34" charset="0"/>
                          <a:ea typeface="IBM Plex Mono" pitchFamily="34" charset="-122"/>
                          <a:cs typeface="IBM Plex Mono" pitchFamily="34" charset="-120"/>
                        </a:rPr>
                        <a:t>Lazy</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100" b="1" dirty="0">
                          <a:solidFill>
                            <a:srgbClr val="8496AB"/>
                          </a:solidFill>
                          <a:latin typeface="IBM Plex Mono" pitchFamily="34" charset="0"/>
                          <a:ea typeface="IBM Plex Mono" pitchFamily="34" charset="-122"/>
                          <a:cs typeface="IBM Plex Mono" pitchFamily="34" charset="-120"/>
                        </a:rPr>
                        <a:t>Rewrite</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100" b="1" dirty="0">
                          <a:solidFill>
                            <a:srgbClr val="8496AB"/>
                          </a:solidFill>
                          <a:latin typeface="IBM Plex Mono" pitchFamily="34" charset="0"/>
                          <a:ea typeface="IBM Plex Mono" pitchFamily="34" charset="-122"/>
                          <a:cs typeface="IBM Plex Mono" pitchFamily="34" charset="-120"/>
                        </a:rPr>
                        <a:t>Overall</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10896">
                <a:tc>
                  <a:txBody>
                    <a:bodyPr/>
                    <a:lstStyle/>
                    <a:p>
                      <a:pPr algn="l" indent="0" marL="0">
                        <a:buNone/>
                      </a:pPr>
                      <a:r>
                        <a:rPr lang="en-US" sz="1300" dirty="0">
                          <a:solidFill>
                            <a:srgbClr val="E9EEF5"/>
                          </a:solidFill>
                          <a:latin typeface="IBM Plex Mono" pitchFamily="34" charset="0"/>
                          <a:ea typeface="IBM Plex Mono" pitchFamily="34" charset="-122"/>
                          <a:cs typeface="IBM Plex Mono" pitchFamily="34" charset="-120"/>
                        </a:rPr>
                        <a:t>0.95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8496AB"/>
                          </a:solidFill>
                          <a:latin typeface="IBM Plex Mono" pitchFamily="34" charset="0"/>
                          <a:ea typeface="IBM Plex Mono" pitchFamily="34" charset="-122"/>
                          <a:cs typeface="IBM Plex Mono" pitchFamily="34" charset="-120"/>
                        </a:rPr>
                        <a:t>3%</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68%</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10896">
                <a:tc>
                  <a:txBody>
                    <a:bodyPr/>
                    <a:lstStyle/>
                    <a:p>
                      <a:pPr algn="l" indent="0" marL="0">
                        <a:buNone/>
                      </a:pPr>
                      <a:r>
                        <a:rPr lang="en-US" sz="1300" dirty="0">
                          <a:solidFill>
                            <a:srgbClr val="E9EEF5"/>
                          </a:solidFill>
                          <a:latin typeface="IBM Plex Mono" pitchFamily="34" charset="0"/>
                          <a:ea typeface="IBM Plex Mono" pitchFamily="34" charset="-122"/>
                          <a:cs typeface="IBM Plex Mono" pitchFamily="34" charset="-120"/>
                        </a:rPr>
                        <a:t>0.90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8496AB"/>
                          </a:solidFill>
                          <a:latin typeface="IBM Plex Mono" pitchFamily="34" charset="0"/>
                          <a:ea typeface="IBM Plex Mono" pitchFamily="34" charset="-122"/>
                          <a:cs typeface="IBM Plex Mono" pitchFamily="34" charset="-120"/>
                        </a:rPr>
                        <a:t>13%</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75%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10896">
                <a:tc>
                  <a:txBody>
                    <a:bodyPr/>
                    <a:lstStyle/>
                    <a:p>
                      <a:pPr algn="l" indent="0" marL="0">
                        <a:buNone/>
                      </a:pPr>
                      <a:r>
                        <a:rPr lang="en-US" sz="1300" b="1" dirty="0">
                          <a:solidFill>
                            <a:srgbClr val="F2A93B"/>
                          </a:solidFill>
                          <a:latin typeface="IBM Plex Mono" pitchFamily="34" charset="0"/>
                          <a:ea typeface="IBM Plex Mono" pitchFamily="34" charset="-122"/>
                          <a:cs typeface="IBM Plex Mono" pitchFamily="34" charset="-120"/>
                        </a:rPr>
                        <a:t>0.85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ctr" indent="0" marL="0">
                        <a:buNone/>
                      </a:pPr>
                      <a:r>
                        <a:rPr lang="en-US" sz="1300" b="1" dirty="0">
                          <a:solidFill>
                            <a:srgbClr val="F2A93B"/>
                          </a:solidFill>
                          <a:latin typeface="IBM Plex Mono" pitchFamily="34" charset="0"/>
                          <a:ea typeface="IBM Plex Mono" pitchFamily="34" charset="-122"/>
                          <a:cs typeface="IBM Plex Mono" pitchFamily="34" charset="-120"/>
                        </a:rPr>
                        <a:t>97%</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ctr" indent="0" marL="0">
                        <a:buNone/>
                      </a:pPr>
                      <a:r>
                        <a:rPr lang="en-US" sz="1300" b="1" dirty="0">
                          <a:solidFill>
                            <a:srgbClr val="8496AB"/>
                          </a:solidFill>
                          <a:latin typeface="IBM Plex Mono" pitchFamily="34" charset="0"/>
                          <a:ea typeface="IBM Plex Mono" pitchFamily="34" charset="-122"/>
                          <a:cs typeface="IBM Plex Mono" pitchFamily="34" charset="-120"/>
                        </a:rPr>
                        <a:t>28%</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ctr" indent="0" marL="0">
                        <a:buNone/>
                      </a:pPr>
                      <a:r>
                        <a:rPr lang="en-US" sz="1300" b="1" dirty="0">
                          <a:solidFill>
                            <a:srgbClr val="E9EEF5"/>
                          </a:solidFill>
                          <a:latin typeface="IBM Plex Mono" pitchFamily="34" charset="0"/>
                          <a:ea typeface="IBM Plex Mono" pitchFamily="34" charset="-122"/>
                          <a:cs typeface="IBM Plex Mono" pitchFamily="34" charset="-120"/>
                        </a:rPr>
                        <a:t>80%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r>
              <a:tr h="310896">
                <a:tc>
                  <a:txBody>
                    <a:bodyPr/>
                    <a:lstStyle/>
                    <a:p>
                      <a:pPr algn="l" indent="0" marL="0">
                        <a:buNone/>
                      </a:pPr>
                      <a:r>
                        <a:rPr lang="en-US" sz="1300" dirty="0">
                          <a:solidFill>
                            <a:srgbClr val="E9EEF5"/>
                          </a:solidFill>
                          <a:latin typeface="IBM Plex Mono" pitchFamily="34" charset="0"/>
                          <a:ea typeface="IBM Plex Mono" pitchFamily="34" charset="-122"/>
                          <a:cs typeface="IBM Plex Mono" pitchFamily="34" charset="-120"/>
                        </a:rPr>
                        <a:t>0.80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98%</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8496AB"/>
                          </a:solidFill>
                          <a:latin typeface="IBM Plex Mono" pitchFamily="34" charset="0"/>
                          <a:ea typeface="IBM Plex Mono" pitchFamily="34" charset="-122"/>
                          <a:cs typeface="IBM Plex Mono" pitchFamily="34" charset="-120"/>
                        </a:rPr>
                        <a:t>44%</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85%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10896">
                <a:tc>
                  <a:txBody>
                    <a:bodyPr/>
                    <a:lstStyle/>
                    <a:p>
                      <a:pPr algn="l" indent="0" marL="0">
                        <a:buNone/>
                      </a:pPr>
                      <a:r>
                        <a:rPr lang="en-US" sz="1300" dirty="0">
                          <a:solidFill>
                            <a:srgbClr val="E9EEF5"/>
                          </a:solidFill>
                          <a:latin typeface="IBM Plex Mono" pitchFamily="34" charset="0"/>
                          <a:ea typeface="IBM Plex Mono" pitchFamily="34" charset="-122"/>
                          <a:cs typeface="IBM Plex Mono" pitchFamily="34" charset="-120"/>
                        </a:rPr>
                        <a:t>0.75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99%</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8496AB"/>
                          </a:solidFill>
                          <a:latin typeface="IBM Plex Mono" pitchFamily="34" charset="0"/>
                          <a:ea typeface="IBM Plex Mono" pitchFamily="34" charset="-122"/>
                          <a:cs typeface="IBM Plex Mono" pitchFamily="34" charset="-120"/>
                        </a:rPr>
                        <a:t>63%</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10896">
                <a:tc>
                  <a:txBody>
                    <a:bodyPr/>
                    <a:lstStyle/>
                    <a:p>
                      <a:pPr algn="l" indent="0" marL="0">
                        <a:buNone/>
                      </a:pPr>
                      <a:r>
                        <a:rPr lang="en-US" sz="1300" dirty="0">
                          <a:solidFill>
                            <a:srgbClr val="E9EEF5"/>
                          </a:solidFill>
                          <a:latin typeface="IBM Plex Mono" pitchFamily="34" charset="0"/>
                          <a:ea typeface="IBM Plex Mono" pitchFamily="34" charset="-122"/>
                          <a:cs typeface="IBM Plex Mono" pitchFamily="34" charset="-120"/>
                        </a:rPr>
                        <a:t>0.70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99%</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8496AB"/>
                          </a:solidFill>
                          <a:latin typeface="IBM Plex Mono" pitchFamily="34" charset="0"/>
                          <a:ea typeface="IBM Plex Mono" pitchFamily="34" charset="-122"/>
                          <a:cs typeface="IBM Plex Mono" pitchFamily="34" charset="-120"/>
                        </a:rPr>
                        <a:t>74%</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93%</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10896">
                <a:tc>
                  <a:txBody>
                    <a:bodyPr/>
                    <a:lstStyle/>
                    <a:p>
                      <a:pPr algn="l" indent="0" marL="0">
                        <a:buNone/>
                      </a:pPr>
                      <a:r>
                        <a:rPr lang="en-US" sz="1300" dirty="0">
                          <a:solidFill>
                            <a:srgbClr val="E9EEF5"/>
                          </a:solidFill>
                          <a:latin typeface="IBM Plex Mono" pitchFamily="34" charset="0"/>
                          <a:ea typeface="IBM Plex Mono" pitchFamily="34" charset="-122"/>
                          <a:cs typeface="IBM Plex Mono" pitchFamily="34" charset="-120"/>
                        </a:rPr>
                        <a:t>0.65</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100%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8496AB"/>
                          </a:solidFill>
                          <a:latin typeface="IBM Plex Mono" pitchFamily="34" charset="0"/>
                          <a:ea typeface="IBM Plex Mono" pitchFamily="34" charset="-122"/>
                          <a:cs typeface="IBM Plex Mono" pitchFamily="34" charset="-120"/>
                        </a:rPr>
                        <a:t>86%</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300" dirty="0">
                          <a:solidFill>
                            <a:srgbClr val="E9EEF5"/>
                          </a:solidFill>
                          <a:latin typeface="IBM Plex Mono" pitchFamily="34" charset="0"/>
                          <a:ea typeface="IBM Plex Mono" pitchFamily="34" charset="-122"/>
                          <a:cs typeface="IBM Plex Mono" pitchFamily="34" charset="-120"/>
                        </a:rPr>
                        <a:t>96%</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bl>
          </a:graphicData>
        </a:graphic>
      </p:graphicFrame>
      <p:graphicFrame>
        <p:nvGraphicFramePr>
          <p:cNvPr id="7" name="Chart 0" descr=""/>
          <p:cNvGraphicFramePr/>
          <p:nvPr/>
        </p:nvGraphicFramePr>
        <p:xfrm>
          <a:off x="5852160" y="2286000"/>
          <a:ext cx="5669280" cy="3291840"/>
        </p:xfrm>
        <a:graphic xmlns:a="http://schemas.openxmlformats.org/drawingml/2006/main">
          <a:graphicData uri="http://schemas.openxmlformats.org/drawingml/2006/chart">
            <c:chart xmlns:c="http://schemas.openxmlformats.org/drawingml/2006/chart" r:id="rId1"/>
          </a:graphicData>
        </a:graphic>
      </p:graphicFrame>
      <p:sp>
        <p:nvSpPr>
          <p:cNvPr id="8" name="Text 3"/>
          <p:cNvSpPr txBox="1"/>
          <p:nvPr/>
        </p:nvSpPr>
        <p:spPr>
          <a:xfrm>
            <a:off x="640080" y="5897880"/>
            <a:ext cx="10881360" cy="548640"/>
          </a:xfrm>
          <a:prstGeom prst="rect">
            <a:avLst/>
          </a:prstGeom>
          <a:noFill/>
          <a:ln/>
        </p:spPr>
        <p:txBody>
          <a:bodyPr wrap="square" rtlCol="0" anchor="ctr"/>
          <a:lstStyle/>
          <a:p>
            <a:pPr indent="0" marL="0">
              <a:lnSpc>
                <a:spcPct val="115000"/>
              </a:lnSpc>
              <a:buNone/>
            </a:pPr>
            <a:r>
              <a:rPr lang="en-US" sz="1250" dirty="0">
                <a:solidFill>
                  <a:srgbClr val="8496AB"/>
                </a:solidFill>
                <a:latin typeface="IBM Plex Sans" pitchFamily="34" charset="0"/>
                <a:ea typeface="IBM Plex Sans" pitchFamily="34" charset="-122"/>
                <a:cs typeface="IBM Plex Sans" pitchFamily="34" charset="-120"/>
              </a:rPr>
              <a:t>The filter is not weak — it scores every attack at 1.000. On a cache hit it is simply never asked.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WHY THE NUMBER IS TRUSTWORTHY</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Four checks, and a proof of cause.</a:t>
            </a:r>
            <a:endParaRPr lang="en-US" sz="3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881360" cy="914400"/>
        </p:xfrm>
        <a:graphic>
          <a:graphicData uri="http://schemas.openxmlformats.org/drawingml/2006/table">
            <a:tbl>
              <a:tblPr/>
              <a:tblGrid>
                <a:gridCol w="4206240"/>
                <a:gridCol w="1463040"/>
                <a:gridCol w="5212080"/>
              </a:tblGrid>
              <a:tr h="457200">
                <a:tc>
                  <a:txBody>
                    <a:bodyPr/>
                    <a:lstStyle/>
                    <a:p>
                      <a:pPr indent="0" marL="0">
                        <a:buNone/>
                      </a:pPr>
                      <a:r>
                        <a:rPr lang="en-US" sz="1100" b="1" dirty="0">
                          <a:solidFill>
                            <a:srgbClr val="8496AB"/>
                          </a:solidFill>
                          <a:latin typeface="IBM Plex Mono" pitchFamily="34" charset="0"/>
                          <a:ea typeface="IBM Plex Mono" pitchFamily="34" charset="-122"/>
                          <a:cs typeface="IBM Plex Mono" pitchFamily="34" charset="-120"/>
                        </a:rPr>
                        <a:t>Check</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100" b="1" dirty="0">
                          <a:solidFill>
                            <a:srgbClr val="8496AB"/>
                          </a:solidFill>
                          <a:latin typeface="IBM Plex Mono" pitchFamily="34" charset="0"/>
                          <a:ea typeface="IBM Plex Mono" pitchFamily="34" charset="-122"/>
                          <a:cs typeface="IBM Plex Mono" pitchFamily="34" charset="-120"/>
                        </a:rPr>
                        <a:t>Result</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100" b="1" dirty="0">
                          <a:solidFill>
                            <a:srgbClr val="8496AB"/>
                          </a:solidFill>
                          <a:latin typeface="IBM Plex Mono" pitchFamily="34" charset="0"/>
                          <a:ea typeface="IBM Plex Mono" pitchFamily="34" charset="-122"/>
                          <a:cs typeface="IBM Plex Mono" pitchFamily="34" charset="-120"/>
                        </a:rPr>
                        <a:t>Why it matters</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457200">
                <a:tc>
                  <a:txBody>
                    <a:bodyPr/>
                    <a:lstStyle/>
                    <a:p>
                      <a:pPr indent="0" marL="0">
                        <a:buNone/>
                      </a:pPr>
                      <a:r>
                        <a:rPr lang="en-US" sz="1400" dirty="0">
                          <a:solidFill>
                            <a:srgbClr val="E9EEF5"/>
                          </a:solidFill>
                          <a:latin typeface="IBM Plex Sans" pitchFamily="34" charset="0"/>
                          <a:ea typeface="IBM Plex Sans" pitchFamily="34" charset="-122"/>
                          <a:cs typeface="IBM Plex Sans" pitchFamily="34" charset="-120"/>
                        </a:rPr>
                        <a:t>Exact attack served the poison</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400" dirty="0">
                          <a:solidFill>
                            <a:srgbClr val="4CC38A"/>
                          </a:solidFill>
                          <a:latin typeface="IBM Plex Mono" pitchFamily="34" charset="0"/>
                          <a:ea typeface="IBM Plex Mono" pitchFamily="34" charset="-122"/>
                          <a:cs typeface="IBM Plex Mono" pitchFamily="34" charset="-120"/>
                        </a:rPr>
                        <a:t>1673/1673</a:t>
                      </a:r>
                      <a:endParaRPr lang="en-US" sz="14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400" dirty="0">
                          <a:solidFill>
                            <a:srgbClr val="8496AB"/>
                          </a:solidFill>
                          <a:latin typeface="IBM Plex Sans" pitchFamily="34" charset="0"/>
                          <a:ea typeface="IBM Plex Sans" pitchFamily="34" charset="-122"/>
                          <a:cs typeface="IBM Plex Sans" pitchFamily="34" charset="-120"/>
                        </a:rPr>
                        <a:t>the experiment is wired correctly</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457200">
                <a:tc>
                  <a:txBody>
                    <a:bodyPr/>
                    <a:lstStyle/>
                    <a:p>
                      <a:pPr indent="0" marL="0">
                        <a:buNone/>
                      </a:pPr>
                      <a:r>
                        <a:rPr lang="en-US" sz="1400" dirty="0">
                          <a:solidFill>
                            <a:srgbClr val="E9EEF5"/>
                          </a:solidFill>
                          <a:latin typeface="IBM Plex Sans" pitchFamily="34" charset="0"/>
                          <a:ea typeface="IBM Plex Sans" pitchFamily="34" charset="-122"/>
                          <a:cs typeface="IBM Plex Sans" pitchFamily="34" charset="-120"/>
                        </a:rPr>
                        <a:t>Honest questions served the poison</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400" dirty="0">
                          <a:solidFill>
                            <a:srgbClr val="4CC38A"/>
                          </a:solidFill>
                          <a:latin typeface="IBM Plex Mono" pitchFamily="34" charset="0"/>
                          <a:ea typeface="IBM Plex Mono" pitchFamily="34" charset="-122"/>
                          <a:cs typeface="IBM Plex Mono" pitchFamily="34" charset="-120"/>
                        </a:rPr>
                        <a:t>0/700</a:t>
                      </a:r>
                      <a:endParaRPr lang="en-US" sz="14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400" dirty="0">
                          <a:solidFill>
                            <a:srgbClr val="8496AB"/>
                          </a:solidFill>
                          <a:latin typeface="IBM Plex Sans" pitchFamily="34" charset="0"/>
                          <a:ea typeface="IBM Plex Sans" pitchFamily="34" charset="-122"/>
                          <a:cs typeface="IBM Plex Sans" pitchFamily="34" charset="-120"/>
                        </a:rPr>
                        <a:t>normal users are not caught in the crossfire</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457200">
                <a:tc>
                  <a:txBody>
                    <a:bodyPr/>
                    <a:lstStyle/>
                    <a:p>
                      <a:pPr indent="0" marL="0">
                        <a:buNone/>
                      </a:pPr>
                      <a:r>
                        <a:rPr lang="en-US" sz="1400" b="1" dirty="0">
                          <a:solidFill>
                            <a:srgbClr val="E9EEF5"/>
                          </a:solidFill>
                          <a:latin typeface="IBM Plex Sans" pitchFamily="34" charset="0"/>
                          <a:ea typeface="IBM Plex Sans" pitchFamily="34" charset="-122"/>
                          <a:cs typeface="IBM Plex Sans" pitchFamily="34" charset="-120"/>
                        </a:rPr>
                        <a:t>Safe order (filter before cache)</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ctr" indent="0" marL="0">
                        <a:buNone/>
                      </a:pPr>
                      <a:r>
                        <a:rPr lang="en-US" sz="1400" b="1" dirty="0">
                          <a:solidFill>
                            <a:srgbClr val="F2A93B"/>
                          </a:solidFill>
                          <a:latin typeface="IBM Plex Mono" pitchFamily="34" charset="0"/>
                          <a:ea typeface="IBM Plex Mono" pitchFamily="34" charset="-122"/>
                          <a:cs typeface="IBM Plex Mono" pitchFamily="34" charset="-120"/>
                        </a:rPr>
                        <a:t>0%</a:t>
                      </a:r>
                      <a:endParaRPr lang="en-US" sz="14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indent="0" marL="0">
                        <a:buNone/>
                      </a:pPr>
                      <a:r>
                        <a:rPr lang="en-US" sz="1400" b="1" dirty="0">
                          <a:solidFill>
                            <a:srgbClr val="E9EEF5"/>
                          </a:solidFill>
                          <a:latin typeface="IBM Plex Sans" pitchFamily="34" charset="0"/>
                          <a:ea typeface="IBM Plex Sans" pitchFamily="34" charset="-122"/>
                          <a:cs typeface="IBM Plex Sans" pitchFamily="34" charset="-120"/>
                        </a:rPr>
                        <a:t>proof the order is the cause</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r>
              <a:tr h="457200">
                <a:tc>
                  <a:txBody>
                    <a:bodyPr/>
                    <a:lstStyle/>
                    <a:p>
                      <a:pPr indent="0" marL="0">
                        <a:buNone/>
                      </a:pPr>
                      <a:r>
                        <a:rPr lang="en-US" sz="1400" dirty="0">
                          <a:solidFill>
                            <a:srgbClr val="E9EEF5"/>
                          </a:solidFill>
                          <a:latin typeface="IBM Plex Sans" pitchFamily="34" charset="0"/>
                          <a:ea typeface="IBM Plex Sans" pitchFamily="34" charset="-122"/>
                          <a:cs typeface="IBM Plex Sans" pitchFamily="34" charset="-120"/>
                        </a:rPr>
                        <a:t>Log score vs served hit</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ctr" indent="0" marL="0">
                        <a:buNone/>
                      </a:pPr>
                      <a:r>
                        <a:rPr lang="en-US" sz="1400" dirty="0">
                          <a:solidFill>
                            <a:srgbClr val="4CC38A"/>
                          </a:solidFill>
                          <a:latin typeface="IBM Plex Mono" pitchFamily="34" charset="0"/>
                          <a:ea typeface="IBM Plex Mono" pitchFamily="34" charset="-122"/>
                          <a:cs typeface="IBM Plex Mono" pitchFamily="34" charset="-120"/>
                        </a:rPr>
                        <a:t>0</a:t>
                      </a:r>
                      <a:endParaRPr lang="en-US" sz="14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400" dirty="0">
                          <a:solidFill>
                            <a:srgbClr val="8496AB"/>
                          </a:solidFill>
                          <a:latin typeface="IBM Plex Sans" pitchFamily="34" charset="0"/>
                          <a:ea typeface="IBM Plex Sans" pitchFamily="34" charset="-122"/>
                          <a:cs typeface="IBM Plex Sans" pitchFamily="34" charset="-120"/>
                        </a:rPr>
                        <a:t>recorded scores match what was served</a:t>
                      </a:r>
                      <a:endParaRPr lang="en-US" sz="14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bl>
          </a:graphicData>
        </a:graphic>
      </p:graphicFrame>
      <p:sp>
        <p:nvSpPr>
          <p:cNvPr id="7" name="Text 3"/>
          <p:cNvSpPr txBox="1"/>
          <p:nvPr/>
        </p:nvSpPr>
        <p:spPr>
          <a:xfrm>
            <a:off x="640080" y="5486400"/>
            <a:ext cx="10515600" cy="548640"/>
          </a:xfrm>
          <a:prstGeom prst="rect">
            <a:avLst/>
          </a:prstGeom>
          <a:noFill/>
          <a:ln/>
        </p:spPr>
        <p:txBody>
          <a:bodyPr wrap="square" rtlCol="0" anchor="ctr"/>
          <a:lstStyle/>
          <a:p>
            <a:pPr indent="0" marL="0">
              <a:buNone/>
            </a:pPr>
            <a:r>
              <a:rPr lang="en-US" sz="1700" dirty="0">
                <a:solidFill>
                  <a:srgbClr val="8496AB"/>
                </a:solidFill>
                <a:latin typeface="IBM Plex Sans" pitchFamily="34" charset="0"/>
                <a:ea typeface="IBM Plex Sans" pitchFamily="34" charset="-122"/>
                <a:cs typeface="IBM Plex Sans" pitchFamily="34" charset="-120"/>
              </a:rPr>
              <a:t>Move the filter in front of the cache, same build, same attacks — the bypass drops to </a:t>
            </a:r>
            <a:pPr indent="0" marL="0">
              <a:buNone/>
            </a:pPr>
            <a:r>
              <a:rPr lang="en-US" sz="1700" b="1" dirty="0">
                <a:solidFill>
                  <a:srgbClr val="F2A93B"/>
                </a:solidFill>
                <a:latin typeface="IBM Plex Sans" pitchFamily="34" charset="0"/>
                <a:ea typeface="IBM Plex Sans" pitchFamily="34" charset="-122"/>
                <a:cs typeface="IBM Plex Sans" pitchFamily="34" charset="-120"/>
              </a:rPr>
              <a:t>zero</a:t>
            </a:r>
            <a:pPr indent="0" marL="0">
              <a:buNone/>
            </a:pPr>
            <a:r>
              <a:rPr lang="en-US" sz="1700" dirty="0">
                <a:solidFill>
                  <a:srgbClr val="8496AB"/>
                </a:solidFill>
                <a:latin typeface="IBM Plex Sans" pitchFamily="34" charset="0"/>
                <a:ea typeface="IBM Plex Sans" pitchFamily="34" charset="-122"/>
                <a:cs typeface="IBM Plex Sans" pitchFamily="34" charset="-120"/>
              </a:rPr>
              <a: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WHY THE CACHE GOES FIRST</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A hit is </a:t>
            </a:r>
            <a:pPr indent="0" marL="0">
              <a:lnSpc>
                <a:spcPct val="102000"/>
              </a:lnSpc>
              <a:buNone/>
            </a:pPr>
            <a:r>
              <a:rPr lang="en-US" sz="3300" b="1" dirty="0">
                <a:solidFill>
                  <a:srgbClr val="F2A93B"/>
                </a:solidFill>
                <a:latin typeface="IBM Plex Sans" pitchFamily="34" charset="0"/>
                <a:ea typeface="IBM Plex Sans" pitchFamily="34" charset="-122"/>
                <a:cs typeface="IBM Plex Sans" pitchFamily="34" charset="-120"/>
              </a:rPr>
              <a:t>7×</a:t>
            </a:r>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 faster than a miss.</a:t>
            </a:r>
            <a:endParaRPr lang="en-US" sz="3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560320"/>
          <a:ext cx="5120640" cy="914400"/>
        </p:xfrm>
        <a:graphic>
          <a:graphicData uri="http://schemas.openxmlformats.org/drawingml/2006/table">
            <a:tbl>
              <a:tblPr/>
              <a:tblGrid>
                <a:gridCol w="2103120"/>
                <a:gridCol w="1188720"/>
                <a:gridCol w="914400"/>
                <a:gridCol w="914400"/>
              </a:tblGrid>
              <a:tr h="384048">
                <a:tc>
                  <a:txBody>
                    <a:bodyPr/>
                    <a:lstStyle/>
                    <a:p>
                      <a:pPr indent="0" marL="0">
                        <a:buNone/>
                      </a:pPr>
                      <a:r>
                        <a:rPr lang="en-US" sz="1100" b="1" dirty="0">
                          <a:solidFill>
                            <a:srgbClr val="8496AB"/>
                          </a:solidFill>
                          <a:latin typeface="IBM Plex Mono" pitchFamily="34" charset="0"/>
                          <a:ea typeface="IBM Plex Mono" pitchFamily="34" charset="-122"/>
                          <a:cs typeface="IBM Plex Mono" pitchFamily="34" charset="-120"/>
                        </a:rPr>
                        <a:t>Outcome</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100" b="1" dirty="0">
                          <a:solidFill>
                            <a:srgbClr val="8496AB"/>
                          </a:solidFill>
                          <a:latin typeface="IBM Plex Mono" pitchFamily="34" charset="0"/>
                          <a:ea typeface="IBM Plex Mono" pitchFamily="34" charset="-122"/>
                          <a:cs typeface="IBM Plex Mono" pitchFamily="34" charset="-120"/>
                        </a:rPr>
                        <a:t>Requests</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100" b="1" dirty="0">
                          <a:solidFill>
                            <a:srgbClr val="8496AB"/>
                          </a:solidFill>
                          <a:latin typeface="IBM Plex Mono" pitchFamily="34" charset="0"/>
                          <a:ea typeface="IBM Plex Mono" pitchFamily="34" charset="-122"/>
                          <a:cs typeface="IBM Plex Mono" pitchFamily="34" charset="-120"/>
                        </a:rPr>
                        <a:t>p50</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indent="0" marL="0">
                        <a:buNone/>
                      </a:pPr>
                      <a:r>
                        <a:rPr lang="en-US" sz="1100" b="1" dirty="0">
                          <a:solidFill>
                            <a:srgbClr val="8496AB"/>
                          </a:solidFill>
                          <a:latin typeface="IBM Plex Mono" pitchFamily="34" charset="0"/>
                          <a:ea typeface="IBM Plex Mono" pitchFamily="34" charset="-122"/>
                          <a:cs typeface="IBM Plex Mono" pitchFamily="34" charset="-120"/>
                        </a:rPr>
                        <a:t>p99</a:t>
                      </a:r>
                      <a:endParaRPr lang="en-US" sz="11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84048">
                <a:tc>
                  <a:txBody>
                    <a:bodyPr/>
                    <a:lstStyle/>
                    <a:p>
                      <a:pPr indent="0" marL="0">
                        <a:buNone/>
                      </a:pPr>
                      <a:r>
                        <a:rPr lang="en-US" sz="1300" b="1" dirty="0">
                          <a:solidFill>
                            <a:srgbClr val="F2A93B"/>
                          </a:solidFill>
                          <a:latin typeface="IBM Plex Sans" pitchFamily="34" charset="0"/>
                          <a:ea typeface="IBM Plex Sans" pitchFamily="34" charset="-122"/>
                          <a:cs typeface="IBM Plex Sans" pitchFamily="34" charset="-120"/>
                        </a:rPr>
                        <a:t>Cache hit</a:t>
                      </a:r>
                      <a:endParaRPr lang="en-US" sz="13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r" indent="0" marL="0">
                        <a:buNone/>
                      </a:pPr>
                      <a:r>
                        <a:rPr lang="en-US" sz="1300" dirty="0">
                          <a:solidFill>
                            <a:srgbClr val="E9EEF5"/>
                          </a:solidFill>
                          <a:latin typeface="IBM Plex Mono" pitchFamily="34" charset="0"/>
                          <a:ea typeface="IBM Plex Mono" pitchFamily="34" charset="-122"/>
                          <a:cs typeface="IBM Plex Mono" pitchFamily="34" charset="-120"/>
                        </a:rPr>
                        <a:t>20,076</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r" indent="0" marL="0">
                        <a:buNone/>
                      </a:pPr>
                      <a:r>
                        <a:rPr lang="en-US" sz="1300" dirty="0">
                          <a:solidFill>
                            <a:srgbClr val="E9EEF5"/>
                          </a:solidFill>
                          <a:latin typeface="IBM Plex Mono" pitchFamily="34" charset="0"/>
                          <a:ea typeface="IBM Plex Mono" pitchFamily="34" charset="-122"/>
                          <a:cs typeface="IBM Plex Mono" pitchFamily="34" charset="-120"/>
                        </a:rPr>
                        <a:t>14 ms</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c>
                  <a:txBody>
                    <a:bodyPr/>
                    <a:lstStyle/>
                    <a:p>
                      <a:pPr algn="r" indent="0" marL="0">
                        <a:buNone/>
                      </a:pPr>
                      <a:r>
                        <a:rPr lang="en-US" sz="1300" dirty="0">
                          <a:solidFill>
                            <a:srgbClr val="8496AB"/>
                          </a:solidFill>
                          <a:latin typeface="IBM Plex Mono" pitchFamily="34" charset="0"/>
                          <a:ea typeface="IBM Plex Mono" pitchFamily="34" charset="-122"/>
                          <a:cs typeface="IBM Plex Mono" pitchFamily="34" charset="-120"/>
                        </a:rPr>
                        <a:t>108 ms</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1E2A38"/>
                    </a:solidFill>
                  </a:tcPr>
                </a:tc>
              </a:tr>
              <a:tr h="384048">
                <a:tc>
                  <a:txBody>
                    <a:bodyPr/>
                    <a:lstStyle/>
                    <a:p>
                      <a:pPr indent="0" marL="0">
                        <a:buNone/>
                      </a:pPr>
                      <a:r>
                        <a:rPr lang="en-US" sz="1300" dirty="0">
                          <a:solidFill>
                            <a:srgbClr val="E9EEF5"/>
                          </a:solidFill>
                          <a:latin typeface="IBM Plex Sans" pitchFamily="34" charset="0"/>
                          <a:ea typeface="IBM Plex Sans" pitchFamily="34" charset="-122"/>
                          <a:cs typeface="IBM Plex Sans" pitchFamily="34" charset="-120"/>
                        </a:rPr>
                        <a:t>Miss (screen + model)</a:t>
                      </a:r>
                      <a:endParaRPr lang="en-US" sz="13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r" indent="0" marL="0">
                        <a:buNone/>
                      </a:pPr>
                      <a:r>
                        <a:rPr lang="en-US" sz="1300" dirty="0">
                          <a:solidFill>
                            <a:srgbClr val="E9EEF5"/>
                          </a:solidFill>
                          <a:latin typeface="IBM Plex Mono" pitchFamily="34" charset="0"/>
                          <a:ea typeface="IBM Plex Mono" pitchFamily="34" charset="-122"/>
                          <a:cs typeface="IBM Plex Mono" pitchFamily="34" charset="-120"/>
                        </a:rPr>
                        <a:t>1,830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r" indent="0" marL="0">
                        <a:buNone/>
                      </a:pPr>
                      <a:r>
                        <a:rPr lang="en-US" sz="1300" dirty="0">
                          <a:solidFill>
                            <a:srgbClr val="E9EEF5"/>
                          </a:solidFill>
                          <a:latin typeface="IBM Plex Mono" pitchFamily="34" charset="0"/>
                          <a:ea typeface="IBM Plex Mono" pitchFamily="34" charset="-122"/>
                          <a:cs typeface="IBM Plex Mono" pitchFamily="34" charset="-120"/>
                        </a:rPr>
                        <a:t>94 ms</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r" indent="0" marL="0">
                        <a:buNone/>
                      </a:pPr>
                      <a:r>
                        <a:rPr lang="en-US" sz="1300" dirty="0">
                          <a:solidFill>
                            <a:srgbClr val="8496AB"/>
                          </a:solidFill>
                          <a:latin typeface="IBM Plex Mono" pitchFamily="34" charset="0"/>
                          <a:ea typeface="IBM Plex Mono" pitchFamily="34" charset="-122"/>
                          <a:cs typeface="IBM Plex Mono" pitchFamily="34" charset="-120"/>
                        </a:rPr>
                        <a:t>265 ms</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r h="384048">
                <a:tc>
                  <a:txBody>
                    <a:bodyPr/>
                    <a:lstStyle/>
                    <a:p>
                      <a:pPr indent="0" marL="0">
                        <a:buNone/>
                      </a:pPr>
                      <a:r>
                        <a:rPr lang="en-US" sz="1300" dirty="0">
                          <a:solidFill>
                            <a:srgbClr val="E9EEF5"/>
                          </a:solidFill>
                          <a:latin typeface="IBM Plex Sans" pitchFamily="34" charset="0"/>
                          <a:ea typeface="IBM Plex Sans" pitchFamily="34" charset="-122"/>
                          <a:cs typeface="IBM Plex Sans" pitchFamily="34" charset="-120"/>
                        </a:rPr>
                        <a:t>Blocked attack</a:t>
                      </a:r>
                      <a:endParaRPr lang="en-US" sz="1300" dirty="0">
                        <a:latin typeface="IBM Plex Sans" charset="0"/>
                        <a:ea typeface="IBM Plex Sans" charset="0"/>
                        <a:cs typeface="IBM Plex Sans"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r" indent="0" marL="0">
                        <a:buNone/>
                      </a:pPr>
                      <a:r>
                        <a:rPr lang="en-US" sz="1300" dirty="0">
                          <a:solidFill>
                            <a:srgbClr val="E9EEF5"/>
                          </a:solidFill>
                          <a:latin typeface="IBM Plex Mono" pitchFamily="34" charset="0"/>
                          <a:ea typeface="IBM Plex Mono" pitchFamily="34" charset="-122"/>
                          <a:cs typeface="IBM Plex Mono" pitchFamily="34" charset="-120"/>
                        </a:rPr>
                        <a:t>3,510</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r" indent="0" marL="0">
                        <a:buNone/>
                      </a:pPr>
                      <a:r>
                        <a:rPr lang="en-US" sz="1300" dirty="0">
                          <a:solidFill>
                            <a:srgbClr val="E9EEF5"/>
                          </a:solidFill>
                          <a:latin typeface="IBM Plex Mono" pitchFamily="34" charset="0"/>
                          <a:ea typeface="IBM Plex Mono" pitchFamily="34" charset="-122"/>
                          <a:cs typeface="IBM Plex Mono" pitchFamily="34" charset="-120"/>
                        </a:rPr>
                        <a:t>84 ms</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c>
                  <a:txBody>
                    <a:bodyPr/>
                    <a:lstStyle/>
                    <a:p>
                      <a:pPr algn="r" indent="0" marL="0">
                        <a:buNone/>
                      </a:pPr>
                      <a:r>
                        <a:rPr lang="en-US" sz="1300" dirty="0">
                          <a:solidFill>
                            <a:srgbClr val="8496AB"/>
                          </a:solidFill>
                          <a:latin typeface="IBM Plex Mono" pitchFamily="34" charset="0"/>
                          <a:ea typeface="IBM Plex Mono" pitchFamily="34" charset="-122"/>
                          <a:cs typeface="IBM Plex Mono" pitchFamily="34" charset="-120"/>
                        </a:rPr>
                        <a:t>236 ms</a:t>
                      </a:r>
                      <a:endParaRPr lang="en-US" sz="1300" dirty="0">
                        <a:latin typeface="IBM Plex Mono" charset="0"/>
                        <a:ea typeface="IBM Plex Mono" charset="0"/>
                        <a:cs typeface="IBM Plex Mono" charset="0"/>
                      </a:endParaRPr>
                    </a:p>
                  </a:txBody>
                  <a:tcPr marL="91440" marR="91440" marT="45720" marB="45720" anchor="ctr">
                    <a:lnL w="6350" cap="flat" cmpd="sng" algn="ctr">
                      <a:solidFill>
                        <a:srgbClr val="2A3846"/>
                      </a:solidFill>
                      <a:prstDash val="solid"/>
                      <a:round/>
                      <a:headEnd type="none" w="med" len="med"/>
                      <a:tailEnd type="none" w="med" len="med"/>
                    </a:lnL>
                    <a:lnR w="6350" cap="flat" cmpd="sng" algn="ctr">
                      <a:solidFill>
                        <a:srgbClr val="2A3846"/>
                      </a:solidFill>
                      <a:prstDash val="solid"/>
                      <a:round/>
                      <a:headEnd type="none" w="med" len="med"/>
                      <a:tailEnd type="none" w="med" len="med"/>
                    </a:lnR>
                    <a:lnT w="6350" cap="flat" cmpd="sng" algn="ctr">
                      <a:solidFill>
                        <a:srgbClr val="2A3846"/>
                      </a:solidFill>
                      <a:prstDash val="solid"/>
                      <a:round/>
                      <a:headEnd type="none" w="med" len="med"/>
                      <a:tailEnd type="none" w="med" len="med"/>
                    </a:lnT>
                    <a:lnB w="6350" cap="flat" cmpd="sng" algn="ctr">
                      <a:solidFill>
                        <a:srgbClr val="2A3846"/>
                      </a:solidFill>
                      <a:prstDash val="solid"/>
                      <a:round/>
                      <a:headEnd type="none" w="med" len="med"/>
                      <a:tailEnd type="none" w="med" len="med"/>
                    </a:lnB>
                    <a:solidFill>
                      <a:srgbClr val="0E141C"/>
                    </a:solidFill>
                  </a:tcPr>
                </a:tc>
              </a:tr>
            </a:tbl>
          </a:graphicData>
        </a:graphic>
      </p:graphicFrame>
      <p:graphicFrame>
        <p:nvGraphicFramePr>
          <p:cNvPr id="7" name="Chart 0" descr=""/>
          <p:cNvGraphicFramePr/>
          <p:nvPr/>
        </p:nvGraphicFramePr>
        <p:xfrm>
          <a:off x="6035040" y="228600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8" name="Text 3"/>
          <p:cNvSpPr txBox="1"/>
          <p:nvPr/>
        </p:nvSpPr>
        <p:spPr>
          <a:xfrm>
            <a:off x="640080" y="5897880"/>
            <a:ext cx="10881360" cy="548640"/>
          </a:xfrm>
          <a:prstGeom prst="rect">
            <a:avLst/>
          </a:prstGeom>
          <a:noFill/>
          <a:ln/>
        </p:spPr>
        <p:txBody>
          <a:bodyPr wrap="square" rtlCol="0" anchor="ctr"/>
          <a:lstStyle/>
          <a:p>
            <a:pPr indent="0" marL="0">
              <a:lnSpc>
                <a:spcPct val="115000"/>
              </a:lnSpc>
              <a:buNone/>
            </a:pPr>
            <a:r>
              <a:rPr lang="en-US" sz="1250" dirty="0">
                <a:solidFill>
                  <a:srgbClr val="8496AB"/>
                </a:solidFill>
                <a:latin typeface="IBM Plex Sans" pitchFamily="34" charset="0"/>
                <a:ea typeface="IBM Plex Sans" pitchFamily="34" charset="-122"/>
                <a:cs typeface="IBM Plex Sans" pitchFamily="34" charset="-120"/>
              </a:rPr>
              <a:t>From 25,416 real requests. Screening every request throws this speed-up away — so the fix has to make the cache itself safety-aware.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WHAT PHASE 3 DOES</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Let the cache ask a second question.</a:t>
            </a:r>
            <a:endParaRPr lang="en-US" sz="3300" dirty="0"/>
          </a:p>
        </p:txBody>
      </p:sp>
      <p:sp>
        <p:nvSpPr>
          <p:cNvPr id="6" name="Shape 3"/>
          <p:cNvSpPr/>
          <p:nvPr/>
        </p:nvSpPr>
        <p:spPr>
          <a:xfrm>
            <a:off x="640080" y="2468880"/>
            <a:ext cx="5212080" cy="2377440"/>
          </a:xfrm>
          <a:prstGeom prst="roundRect">
            <a:avLst>
              <a:gd name="adj" fmla="val 3077"/>
            </a:avLst>
          </a:prstGeom>
          <a:solidFill>
            <a:srgbClr val="16202C"/>
          </a:solidFill>
          <a:ln w="12700">
            <a:solidFill>
              <a:srgbClr val="2A3846"/>
            </a:solidFill>
            <a:prstDash val="solid"/>
          </a:ln>
        </p:spPr>
      </p:sp>
      <p:sp>
        <p:nvSpPr>
          <p:cNvPr id="7" name="Text 4"/>
          <p:cNvSpPr txBox="1"/>
          <p:nvPr/>
        </p:nvSpPr>
        <p:spPr>
          <a:xfrm>
            <a:off x="960120" y="2697480"/>
            <a:ext cx="4572000" cy="365760"/>
          </a:xfrm>
          <a:prstGeom prst="rect">
            <a:avLst/>
          </a:prstGeom>
          <a:noFill/>
          <a:ln/>
        </p:spPr>
        <p:txBody>
          <a:bodyPr wrap="square" rtlCol="0" anchor="ctr"/>
          <a:lstStyle/>
          <a:p>
            <a:pPr indent="0" marL="0">
              <a:buNone/>
            </a:pPr>
            <a:r>
              <a:rPr lang="en-US" sz="1100" spc="100" kern="0" dirty="0">
                <a:solidFill>
                  <a:srgbClr val="8496AB"/>
                </a:solidFill>
                <a:latin typeface="IBM Plex Mono" pitchFamily="34" charset="0"/>
                <a:ea typeface="IBM Plex Mono" pitchFamily="34" charset="-122"/>
                <a:cs typeface="IBM Plex Mono" pitchFamily="34" charset="-120"/>
              </a:rPr>
              <a:t>THE CACHE TODAY ASKS</a:t>
            </a:r>
            <a:endParaRPr lang="en-US" sz="1100" dirty="0"/>
          </a:p>
        </p:txBody>
      </p:sp>
      <p:sp>
        <p:nvSpPr>
          <p:cNvPr id="8" name="Text 5"/>
          <p:cNvSpPr txBox="1"/>
          <p:nvPr/>
        </p:nvSpPr>
        <p:spPr>
          <a:xfrm>
            <a:off x="960120" y="3108960"/>
            <a:ext cx="4572000" cy="914400"/>
          </a:xfrm>
          <a:prstGeom prst="rect">
            <a:avLst/>
          </a:prstGeom>
          <a:noFill/>
          <a:ln/>
        </p:spPr>
        <p:txBody>
          <a:bodyPr wrap="square" rtlCol="0" anchor="ctr"/>
          <a:lstStyle/>
          <a:p>
            <a:pPr indent="0" marL="0">
              <a:buNone/>
            </a:pPr>
            <a:r>
              <a:rPr lang="en-US" sz="1700" dirty="0">
                <a:solidFill>
                  <a:srgbClr val="E9EEF5"/>
                </a:solidFill>
                <a:latin typeface="IBM Plex Sans" pitchFamily="34" charset="0"/>
                <a:ea typeface="IBM Plex Sans" pitchFamily="34" charset="-122"/>
                <a:cs typeface="IBM Plex Sans" pitchFamily="34" charset="-120"/>
              </a:rPr>
              <a:t>“Does this sound like something I answered before?”</a:t>
            </a:r>
            <a:endParaRPr lang="en-US" sz="1700" dirty="0"/>
          </a:p>
        </p:txBody>
      </p:sp>
      <p:sp>
        <p:nvSpPr>
          <p:cNvPr id="9" name="Text 6"/>
          <p:cNvSpPr txBox="1"/>
          <p:nvPr/>
        </p:nvSpPr>
        <p:spPr>
          <a:xfrm>
            <a:off x="960120" y="4114800"/>
            <a:ext cx="4572000" cy="548640"/>
          </a:xfrm>
          <a:prstGeom prst="rect">
            <a:avLst/>
          </a:prstGeom>
          <a:noFill/>
          <a:ln/>
        </p:spPr>
        <p:txBody>
          <a:bodyPr wrap="square" rtlCol="0" anchor="ctr"/>
          <a:lstStyle/>
          <a:p>
            <a:pPr indent="0" marL="0">
              <a:buNone/>
            </a:pPr>
            <a:r>
              <a:rPr lang="en-US" sz="1500" dirty="0">
                <a:solidFill>
                  <a:srgbClr val="E5484D"/>
                </a:solidFill>
                <a:latin typeface="IBM Plex Sans" pitchFamily="34" charset="0"/>
                <a:ea typeface="IBM Plex Sans" pitchFamily="34" charset="-122"/>
                <a:cs typeface="IBM Plex Sans" pitchFamily="34" charset="-120"/>
              </a:rPr>
              <a:t>That is the only question. It is the hole.</a:t>
            </a:r>
            <a:endParaRPr lang="en-US" sz="1500" dirty="0"/>
          </a:p>
        </p:txBody>
      </p:sp>
      <p:sp>
        <p:nvSpPr>
          <p:cNvPr id="10" name="Shape 7"/>
          <p:cNvSpPr/>
          <p:nvPr/>
        </p:nvSpPr>
        <p:spPr>
          <a:xfrm>
            <a:off x="6309360" y="2468880"/>
            <a:ext cx="5212080" cy="2377440"/>
          </a:xfrm>
          <a:prstGeom prst="roundRect">
            <a:avLst>
              <a:gd name="adj" fmla="val 3077"/>
            </a:avLst>
          </a:prstGeom>
          <a:solidFill>
            <a:srgbClr val="16202C"/>
          </a:solidFill>
          <a:ln w="15875">
            <a:solidFill>
              <a:srgbClr val="F2A93B"/>
            </a:solidFill>
            <a:prstDash val="solid"/>
          </a:ln>
        </p:spPr>
      </p:sp>
      <p:sp>
        <p:nvSpPr>
          <p:cNvPr id="11" name="Text 8"/>
          <p:cNvSpPr txBox="1"/>
          <p:nvPr/>
        </p:nvSpPr>
        <p:spPr>
          <a:xfrm>
            <a:off x="6629400" y="2697480"/>
            <a:ext cx="4572000" cy="365760"/>
          </a:xfrm>
          <a:prstGeom prst="rect">
            <a:avLst/>
          </a:prstGeom>
          <a:noFill/>
          <a:ln/>
        </p:spPr>
        <p:txBody>
          <a:bodyPr wrap="square" rtlCol="0" anchor="ctr"/>
          <a:lstStyle/>
          <a:p>
            <a:pPr indent="0" marL="0">
              <a:buNone/>
            </a:pPr>
            <a:r>
              <a:rPr lang="en-US" sz="1100" spc="100" kern="0" dirty="0">
                <a:solidFill>
                  <a:srgbClr val="F2A93B"/>
                </a:solidFill>
                <a:latin typeface="IBM Plex Mono" pitchFamily="34" charset="0"/>
                <a:ea typeface="IBM Plex Mono" pitchFamily="34" charset="-122"/>
                <a:cs typeface="IBM Plex Mono" pitchFamily="34" charset="-120"/>
              </a:rPr>
              <a:t>SENTRYGATE ALSO ASKS</a:t>
            </a:r>
            <a:endParaRPr lang="en-US" sz="1100" dirty="0"/>
          </a:p>
        </p:txBody>
      </p:sp>
      <p:sp>
        <p:nvSpPr>
          <p:cNvPr id="12" name="Text 9"/>
          <p:cNvSpPr txBox="1"/>
          <p:nvPr/>
        </p:nvSpPr>
        <p:spPr>
          <a:xfrm>
            <a:off x="6629400" y="3108960"/>
            <a:ext cx="4572000" cy="914400"/>
          </a:xfrm>
          <a:prstGeom prst="rect">
            <a:avLst/>
          </a:prstGeom>
          <a:noFill/>
          <a:ln/>
        </p:spPr>
        <p:txBody>
          <a:bodyPr wrap="square" rtlCol="0" anchor="ctr"/>
          <a:lstStyle/>
          <a:p>
            <a:pPr indent="0" marL="0">
              <a:buNone/>
            </a:pPr>
            <a:r>
              <a:rPr lang="en-US" sz="1700" dirty="0">
                <a:solidFill>
                  <a:srgbClr val="E9EEF5"/>
                </a:solidFill>
                <a:latin typeface="IBM Plex Sans" pitchFamily="34" charset="0"/>
                <a:ea typeface="IBM Plex Sans" pitchFamily="34" charset="-122"/>
                <a:cs typeface="IBM Plex Sans" pitchFamily="34" charset="-120"/>
              </a:rPr>
              <a:t>“…and was that earlier question </a:t>
            </a:r>
            <a:pPr indent="0" marL="0">
              <a:buNone/>
            </a:pPr>
            <a:r>
              <a:rPr lang="en-US" sz="1700" b="1" dirty="0">
                <a:solidFill>
                  <a:srgbClr val="E9EEF5"/>
                </a:solidFill>
                <a:latin typeface="IBM Plex Sans" pitchFamily="34" charset="0"/>
                <a:ea typeface="IBM Plex Sans" pitchFamily="34" charset="-122"/>
                <a:cs typeface="IBM Plex Sans" pitchFamily="34" charset="-120"/>
              </a:rPr>
              <a:t>safe</a:t>
            </a:r>
            <a:pPr indent="0" marL="0">
              <a:buNone/>
            </a:pPr>
            <a:r>
              <a:rPr lang="en-US" sz="1700" dirty="0">
                <a:solidFill>
                  <a:srgbClr val="E9EEF5"/>
                </a:solidFill>
                <a:latin typeface="IBM Plex Sans" pitchFamily="34" charset="0"/>
                <a:ea typeface="IBM Plex Sans" pitchFamily="34" charset="-122"/>
                <a:cs typeface="IBM Plex Sans" pitchFamily="34" charset="-120"/>
              </a:rPr>
              <a:t>?”</a:t>
            </a:r>
            <a:endParaRPr lang="en-US" sz="1700" dirty="0"/>
          </a:p>
        </p:txBody>
      </p:sp>
      <p:sp>
        <p:nvSpPr>
          <p:cNvPr id="13" name="Text 10"/>
          <p:cNvSpPr txBox="1"/>
          <p:nvPr/>
        </p:nvSpPr>
        <p:spPr>
          <a:xfrm>
            <a:off x="6629400" y="4114800"/>
            <a:ext cx="4572000" cy="640080"/>
          </a:xfrm>
          <a:prstGeom prst="rect">
            <a:avLst/>
          </a:prstGeom>
          <a:noFill/>
          <a:ln/>
        </p:spPr>
        <p:txBody>
          <a:bodyPr wrap="square" rtlCol="0" anchor="ctr"/>
          <a:lstStyle/>
          <a:p>
            <a:pPr indent="0" marL="0">
              <a:buNone/>
            </a:pPr>
            <a:r>
              <a:rPr lang="en-US" sz="1500" dirty="0">
                <a:solidFill>
                  <a:srgbClr val="4CC38A"/>
                </a:solidFill>
                <a:latin typeface="IBM Plex Sans" pitchFamily="34" charset="0"/>
                <a:ea typeface="IBM Plex Sans" pitchFamily="34" charset="-122"/>
                <a:cs typeface="IBM Plex Sans" pitchFamily="34" charset="-120"/>
              </a:rPr>
              <a:t>The label is already stored, so it is one extra check, no extra model.</a:t>
            </a:r>
            <a:endParaRPr lang="en-US" sz="1500" dirty="0"/>
          </a:p>
        </p:txBody>
      </p:sp>
      <p:sp>
        <p:nvSpPr>
          <p:cNvPr id="14" name="Text 11"/>
          <p:cNvSpPr txBox="1"/>
          <p:nvPr/>
        </p:nvSpPr>
        <p:spPr>
          <a:xfrm>
            <a:off x="640080" y="5897880"/>
            <a:ext cx="10881360" cy="548640"/>
          </a:xfrm>
          <a:prstGeom prst="rect">
            <a:avLst/>
          </a:prstGeom>
          <a:noFill/>
          <a:ln/>
        </p:spPr>
        <p:txBody>
          <a:bodyPr wrap="square" rtlCol="0" anchor="ctr"/>
          <a:lstStyle/>
          <a:p>
            <a:pPr indent="0" marL="0">
              <a:lnSpc>
                <a:spcPct val="115000"/>
              </a:lnSpc>
              <a:buNone/>
            </a:pPr>
            <a:r>
              <a:rPr lang="en-US" sz="1250" dirty="0">
                <a:solidFill>
                  <a:srgbClr val="8496AB"/>
                </a:solidFill>
                <a:latin typeface="IBM Plex Sans" pitchFamily="34" charset="0"/>
                <a:ea typeface="IBM Plex Sans" pitchFamily="34" charset="-122"/>
                <a:cs typeface="IBM Plex Sans" pitchFamily="34" charset="-120"/>
              </a:rPr>
              <a:t>Next milestone: rerun these exact attacks with the check on. The bypass rate should fall sharply — the first proof the fix works.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PLAN</a:t>
            </a:r>
            <a:endParaRPr lang="en-US" sz="1200" dirty="0"/>
          </a:p>
        </p:txBody>
      </p:sp>
      <p:sp>
        <p:nvSpPr>
          <p:cNvPr id="5" name="Text 2"/>
          <p:cNvSpPr txBox="1"/>
          <p:nvPr/>
        </p:nvSpPr>
        <p:spPr>
          <a:xfrm>
            <a:off x="640080" y="868680"/>
            <a:ext cx="10881360" cy="1097280"/>
          </a:xfrm>
          <a:prstGeom prst="rect">
            <a:avLst/>
          </a:prstGeom>
          <a:noFill/>
          <a:ln/>
        </p:spPr>
        <p:txBody>
          <a:bodyPr wrap="square" rtlCol="0" anchor="ctr"/>
          <a:lstStyle/>
          <a:p>
            <a:pPr indent="0" marL="0">
              <a:lnSpc>
                <a:spcPct val="102000"/>
              </a:lnSpc>
              <a:buNone/>
            </a:pPr>
            <a:r>
              <a:rPr lang="en-US" sz="3300" b="1" dirty="0">
                <a:solidFill>
                  <a:srgbClr val="E9EEF5"/>
                </a:solidFill>
                <a:latin typeface="IBM Plex Sans" pitchFamily="34" charset="0"/>
                <a:ea typeface="IBM Plex Sans" pitchFamily="34" charset="-122"/>
                <a:cs typeface="IBM Plex Sans" pitchFamily="34" charset="-120"/>
              </a:rPr>
              <a:t>Phase 2 done. The fix is next.</a:t>
            </a:r>
            <a:endParaRPr lang="en-US" sz="3300" dirty="0"/>
          </a:p>
        </p:txBody>
      </p:sp>
      <p:sp>
        <p:nvSpPr>
          <p:cNvPr id="6" name="Shape 3"/>
          <p:cNvSpPr/>
          <p:nvPr/>
        </p:nvSpPr>
        <p:spPr>
          <a:xfrm>
            <a:off x="640080" y="2560320"/>
            <a:ext cx="2606040" cy="2286000"/>
          </a:xfrm>
          <a:prstGeom prst="roundRect">
            <a:avLst>
              <a:gd name="adj" fmla="val 2400"/>
            </a:avLst>
          </a:prstGeom>
          <a:solidFill>
            <a:srgbClr val="16202C"/>
          </a:solidFill>
          <a:ln w="12700">
            <a:solidFill>
              <a:srgbClr val="2A3846"/>
            </a:solidFill>
            <a:prstDash val="solid"/>
          </a:ln>
        </p:spPr>
      </p:sp>
      <p:sp>
        <p:nvSpPr>
          <p:cNvPr id="7" name="Text 4"/>
          <p:cNvSpPr txBox="1"/>
          <p:nvPr/>
        </p:nvSpPr>
        <p:spPr>
          <a:xfrm>
            <a:off x="868680" y="2743200"/>
            <a:ext cx="2103120" cy="548640"/>
          </a:xfrm>
          <a:prstGeom prst="rect">
            <a:avLst/>
          </a:prstGeom>
          <a:noFill/>
          <a:ln/>
        </p:spPr>
        <p:txBody>
          <a:bodyPr wrap="square" rtlCol="0" anchor="ctr"/>
          <a:lstStyle/>
          <a:p>
            <a:pPr indent="0" marL="0">
              <a:buNone/>
            </a:pPr>
            <a:r>
              <a:rPr lang="en-US" sz="2600" b="1" dirty="0">
                <a:solidFill>
                  <a:srgbClr val="4CC38A"/>
                </a:solidFill>
                <a:latin typeface="IBM Plex Mono" pitchFamily="34" charset="0"/>
                <a:ea typeface="IBM Plex Mono" pitchFamily="34" charset="-122"/>
                <a:cs typeface="IBM Plex Mono" pitchFamily="34" charset="-120"/>
              </a:rPr>
              <a:t>01</a:t>
            </a:r>
            <a:endParaRPr lang="en-US" sz="2600" dirty="0"/>
          </a:p>
        </p:txBody>
      </p:sp>
      <p:sp>
        <p:nvSpPr>
          <p:cNvPr id="8" name="Text 5"/>
          <p:cNvSpPr txBox="1"/>
          <p:nvPr/>
        </p:nvSpPr>
        <p:spPr>
          <a:xfrm>
            <a:off x="868680" y="3337560"/>
            <a:ext cx="2194560" cy="274320"/>
          </a:xfrm>
          <a:prstGeom prst="rect">
            <a:avLst/>
          </a:prstGeom>
          <a:noFill/>
          <a:ln/>
        </p:spPr>
        <p:txBody>
          <a:bodyPr wrap="square" rtlCol="0" anchor="ctr"/>
          <a:lstStyle/>
          <a:p>
            <a:pPr indent="0" marL="0">
              <a:buNone/>
            </a:pPr>
            <a:r>
              <a:rPr lang="en-US" sz="1000" dirty="0">
                <a:solidFill>
                  <a:srgbClr val="8496AB"/>
                </a:solidFill>
                <a:latin typeface="IBM Plex Mono" pitchFamily="34" charset="0"/>
                <a:ea typeface="IBM Plex Mono" pitchFamily="34" charset="-122"/>
                <a:cs typeface="IBM Plex Mono" pitchFamily="34" charset="-120"/>
              </a:rPr>
              <a:t>18–22 Aug</a:t>
            </a:r>
            <a:endParaRPr lang="en-US" sz="1000" dirty="0"/>
          </a:p>
        </p:txBody>
      </p:sp>
      <p:sp>
        <p:nvSpPr>
          <p:cNvPr id="9" name="Text 6"/>
          <p:cNvSpPr txBox="1"/>
          <p:nvPr/>
        </p:nvSpPr>
        <p:spPr>
          <a:xfrm>
            <a:off x="868680" y="3611880"/>
            <a:ext cx="2194560" cy="914400"/>
          </a:xfrm>
          <a:prstGeom prst="rect">
            <a:avLst/>
          </a:prstGeom>
          <a:noFill/>
          <a:ln/>
        </p:spPr>
        <p:txBody>
          <a:bodyPr wrap="square" rtlCol="0" anchor="ctr"/>
          <a:lstStyle/>
          <a:p>
            <a:pPr indent="0" marL="0">
              <a:lnSpc>
                <a:spcPct val="105000"/>
              </a:lnSpc>
              <a:buNone/>
            </a:pPr>
            <a:r>
              <a:rPr lang="en-US" sz="1200" dirty="0">
                <a:solidFill>
                  <a:srgbClr val="E9EEF5"/>
                </a:solidFill>
                <a:latin typeface="IBM Plex Sans" pitchFamily="34" charset="0"/>
                <a:ea typeface="IBM Plex Sans" pitchFamily="34" charset="-122"/>
                <a:cs typeface="IBM Plex Sans" pitchFamily="34" charset="-120"/>
              </a:rPr>
              <a:t>Prove the problem is real</a:t>
            </a:r>
            <a:endParaRPr lang="en-US" sz="1200" dirty="0"/>
          </a:p>
        </p:txBody>
      </p:sp>
      <p:sp>
        <p:nvSpPr>
          <p:cNvPr id="10" name="Text 7"/>
          <p:cNvSpPr txBox="1"/>
          <p:nvPr/>
        </p:nvSpPr>
        <p:spPr>
          <a:xfrm>
            <a:off x="868680" y="4526280"/>
            <a:ext cx="2194560" cy="274320"/>
          </a:xfrm>
          <a:prstGeom prst="rect">
            <a:avLst/>
          </a:prstGeom>
          <a:noFill/>
          <a:ln/>
        </p:spPr>
        <p:txBody>
          <a:bodyPr wrap="square" rtlCol="0" anchor="ctr"/>
          <a:lstStyle/>
          <a:p>
            <a:pPr indent="0" marL="0">
              <a:buNone/>
            </a:pPr>
            <a:r>
              <a:rPr lang="en-US" sz="1000" b="1" dirty="0">
                <a:solidFill>
                  <a:srgbClr val="4CC38A"/>
                </a:solidFill>
                <a:latin typeface="IBM Plex Mono" pitchFamily="34" charset="0"/>
                <a:ea typeface="IBM Plex Mono" pitchFamily="34" charset="-122"/>
                <a:cs typeface="IBM Plex Mono" pitchFamily="34" charset="-120"/>
              </a:rPr>
              <a:t>done</a:t>
            </a:r>
            <a:endParaRPr lang="en-US" sz="1000" dirty="0"/>
          </a:p>
        </p:txBody>
      </p:sp>
      <p:sp>
        <p:nvSpPr>
          <p:cNvPr id="11" name="Shape 8"/>
          <p:cNvSpPr/>
          <p:nvPr/>
        </p:nvSpPr>
        <p:spPr>
          <a:xfrm>
            <a:off x="3429000" y="2560320"/>
            <a:ext cx="2606040" cy="2286000"/>
          </a:xfrm>
          <a:prstGeom prst="roundRect">
            <a:avLst>
              <a:gd name="adj" fmla="val 2400"/>
            </a:avLst>
          </a:prstGeom>
          <a:solidFill>
            <a:srgbClr val="16202C"/>
          </a:solidFill>
          <a:ln w="15875">
            <a:solidFill>
              <a:srgbClr val="F2A93B"/>
            </a:solidFill>
            <a:prstDash val="solid"/>
          </a:ln>
        </p:spPr>
      </p:sp>
      <p:sp>
        <p:nvSpPr>
          <p:cNvPr id="12" name="Text 9"/>
          <p:cNvSpPr txBox="1"/>
          <p:nvPr/>
        </p:nvSpPr>
        <p:spPr>
          <a:xfrm>
            <a:off x="3657600" y="2743200"/>
            <a:ext cx="2103120" cy="548640"/>
          </a:xfrm>
          <a:prstGeom prst="rect">
            <a:avLst/>
          </a:prstGeom>
          <a:noFill/>
          <a:ln/>
        </p:spPr>
        <p:txBody>
          <a:bodyPr wrap="square" rtlCol="0" anchor="ctr"/>
          <a:lstStyle/>
          <a:p>
            <a:pPr indent="0" marL="0">
              <a:buNone/>
            </a:pPr>
            <a:r>
              <a:rPr lang="en-US" sz="2600" b="1" dirty="0">
                <a:solidFill>
                  <a:srgbClr val="F2A93B"/>
                </a:solidFill>
                <a:latin typeface="IBM Plex Mono" pitchFamily="34" charset="0"/>
                <a:ea typeface="IBM Plex Mono" pitchFamily="34" charset="-122"/>
                <a:cs typeface="IBM Plex Mono" pitchFamily="34" charset="-120"/>
              </a:rPr>
              <a:t>02</a:t>
            </a:r>
            <a:endParaRPr lang="en-US" sz="2600" dirty="0"/>
          </a:p>
        </p:txBody>
      </p:sp>
      <p:sp>
        <p:nvSpPr>
          <p:cNvPr id="13" name="Text 10"/>
          <p:cNvSpPr txBox="1"/>
          <p:nvPr/>
        </p:nvSpPr>
        <p:spPr>
          <a:xfrm>
            <a:off x="3657600" y="3337560"/>
            <a:ext cx="2194560" cy="274320"/>
          </a:xfrm>
          <a:prstGeom prst="rect">
            <a:avLst/>
          </a:prstGeom>
          <a:noFill/>
          <a:ln/>
        </p:spPr>
        <p:txBody>
          <a:bodyPr wrap="square" rtlCol="0" anchor="ctr"/>
          <a:lstStyle/>
          <a:p>
            <a:pPr indent="0" marL="0">
              <a:buNone/>
            </a:pPr>
            <a:r>
              <a:rPr lang="en-US" sz="1000" dirty="0">
                <a:solidFill>
                  <a:srgbClr val="8496AB"/>
                </a:solidFill>
                <a:latin typeface="IBM Plex Mono" pitchFamily="34" charset="0"/>
                <a:ea typeface="IBM Plex Mono" pitchFamily="34" charset="-122"/>
                <a:cs typeface="IBM Plex Mono" pitchFamily="34" charset="-120"/>
              </a:rPr>
              <a:t>23 Aug–26 Sep</a:t>
            </a:r>
            <a:endParaRPr lang="en-US" sz="1000" dirty="0"/>
          </a:p>
        </p:txBody>
      </p:sp>
      <p:sp>
        <p:nvSpPr>
          <p:cNvPr id="14" name="Text 11"/>
          <p:cNvSpPr txBox="1"/>
          <p:nvPr/>
        </p:nvSpPr>
        <p:spPr>
          <a:xfrm>
            <a:off x="3657600" y="3611880"/>
            <a:ext cx="2194560" cy="914400"/>
          </a:xfrm>
          <a:prstGeom prst="rect">
            <a:avLst/>
          </a:prstGeom>
          <a:noFill/>
          <a:ln/>
        </p:spPr>
        <p:txBody>
          <a:bodyPr wrap="square" rtlCol="0" anchor="ctr"/>
          <a:lstStyle/>
          <a:p>
            <a:pPr indent="0" marL="0">
              <a:lnSpc>
                <a:spcPct val="105000"/>
              </a:lnSpc>
              <a:buNone/>
            </a:pPr>
            <a:r>
              <a:rPr lang="en-US" sz="1200" dirty="0">
                <a:solidFill>
                  <a:srgbClr val="E9EEF5"/>
                </a:solidFill>
                <a:latin typeface="IBM Plex Sans" pitchFamily="34" charset="0"/>
                <a:ea typeface="IBM Plex Sans" pitchFamily="34" charset="-122"/>
                <a:cs typeface="IBM Plex Sans" pitchFamily="34" charset="-120"/>
              </a:rPr>
              <a:t>Build the gateway and reproduce the problem on it</a:t>
            </a:r>
            <a:endParaRPr lang="en-US" sz="1200" dirty="0"/>
          </a:p>
        </p:txBody>
      </p:sp>
      <p:sp>
        <p:nvSpPr>
          <p:cNvPr id="15" name="Text 12"/>
          <p:cNvSpPr txBox="1"/>
          <p:nvPr/>
        </p:nvSpPr>
        <p:spPr>
          <a:xfrm>
            <a:off x="3657600" y="4526280"/>
            <a:ext cx="2194560" cy="274320"/>
          </a:xfrm>
          <a:prstGeom prst="rect">
            <a:avLst/>
          </a:prstGeom>
          <a:noFill/>
          <a:ln/>
        </p:spPr>
        <p:txBody>
          <a:bodyPr wrap="square" rtlCol="0" anchor="ctr"/>
          <a:lstStyle/>
          <a:p>
            <a:pPr indent="0" marL="0">
              <a:buNone/>
            </a:pPr>
            <a:r>
              <a:rPr lang="en-US" sz="1000" b="1" dirty="0">
                <a:solidFill>
                  <a:srgbClr val="F2A93B"/>
                </a:solidFill>
                <a:latin typeface="IBM Plex Mono" pitchFamily="34" charset="0"/>
                <a:ea typeface="IBM Plex Mono" pitchFamily="34" charset="-122"/>
                <a:cs typeface="IBM Plex Mono" pitchFamily="34" charset="-120"/>
              </a:rPr>
              <a:t>You are here</a:t>
            </a:r>
            <a:endParaRPr lang="en-US" sz="1000" dirty="0"/>
          </a:p>
        </p:txBody>
      </p:sp>
      <p:sp>
        <p:nvSpPr>
          <p:cNvPr id="16" name="Shape 13"/>
          <p:cNvSpPr/>
          <p:nvPr/>
        </p:nvSpPr>
        <p:spPr>
          <a:xfrm>
            <a:off x="6217920" y="2560320"/>
            <a:ext cx="2606040" cy="2286000"/>
          </a:xfrm>
          <a:prstGeom prst="roundRect">
            <a:avLst>
              <a:gd name="adj" fmla="val 2400"/>
            </a:avLst>
          </a:prstGeom>
          <a:solidFill>
            <a:srgbClr val="16202C"/>
          </a:solidFill>
          <a:ln w="12700">
            <a:solidFill>
              <a:srgbClr val="2A3846"/>
            </a:solidFill>
            <a:prstDash val="solid"/>
          </a:ln>
        </p:spPr>
      </p:sp>
      <p:sp>
        <p:nvSpPr>
          <p:cNvPr id="17" name="Text 14"/>
          <p:cNvSpPr txBox="1"/>
          <p:nvPr/>
        </p:nvSpPr>
        <p:spPr>
          <a:xfrm>
            <a:off x="6446520" y="2743200"/>
            <a:ext cx="2103120" cy="548640"/>
          </a:xfrm>
          <a:prstGeom prst="rect">
            <a:avLst/>
          </a:prstGeom>
          <a:noFill/>
          <a:ln/>
        </p:spPr>
        <p:txBody>
          <a:bodyPr wrap="square" rtlCol="0" anchor="ctr"/>
          <a:lstStyle/>
          <a:p>
            <a:pPr indent="0" marL="0">
              <a:buNone/>
            </a:pPr>
            <a:r>
              <a:rPr lang="en-US" sz="2600" b="1" dirty="0">
                <a:solidFill>
                  <a:srgbClr val="8496AB"/>
                </a:solidFill>
                <a:latin typeface="IBM Plex Mono" pitchFamily="34" charset="0"/>
                <a:ea typeface="IBM Plex Mono" pitchFamily="34" charset="-122"/>
                <a:cs typeface="IBM Plex Mono" pitchFamily="34" charset="-120"/>
              </a:rPr>
              <a:t>03</a:t>
            </a:r>
            <a:endParaRPr lang="en-US" sz="2600" dirty="0"/>
          </a:p>
        </p:txBody>
      </p:sp>
      <p:sp>
        <p:nvSpPr>
          <p:cNvPr id="18" name="Text 15"/>
          <p:cNvSpPr txBox="1"/>
          <p:nvPr/>
        </p:nvSpPr>
        <p:spPr>
          <a:xfrm>
            <a:off x="6446520" y="3337560"/>
            <a:ext cx="2194560" cy="274320"/>
          </a:xfrm>
          <a:prstGeom prst="rect">
            <a:avLst/>
          </a:prstGeom>
          <a:noFill/>
          <a:ln/>
        </p:spPr>
        <p:txBody>
          <a:bodyPr wrap="square" rtlCol="0" anchor="ctr"/>
          <a:lstStyle/>
          <a:p>
            <a:pPr indent="0" marL="0">
              <a:buNone/>
            </a:pPr>
            <a:r>
              <a:rPr lang="en-US" sz="1000" dirty="0">
                <a:solidFill>
                  <a:srgbClr val="8496AB"/>
                </a:solidFill>
                <a:latin typeface="IBM Plex Mono" pitchFamily="34" charset="0"/>
                <a:ea typeface="IBM Plex Mono" pitchFamily="34" charset="-122"/>
                <a:cs typeface="IBM Plex Mono" pitchFamily="34" charset="-120"/>
              </a:rPr>
              <a:t>27 Sep–24 Oct</a:t>
            </a:r>
            <a:endParaRPr lang="en-US" sz="1000" dirty="0"/>
          </a:p>
        </p:txBody>
      </p:sp>
      <p:sp>
        <p:nvSpPr>
          <p:cNvPr id="19" name="Text 16"/>
          <p:cNvSpPr txBox="1"/>
          <p:nvPr/>
        </p:nvSpPr>
        <p:spPr>
          <a:xfrm>
            <a:off x="6446520" y="3611880"/>
            <a:ext cx="2194560" cy="914400"/>
          </a:xfrm>
          <a:prstGeom prst="rect">
            <a:avLst/>
          </a:prstGeom>
          <a:noFill/>
          <a:ln/>
        </p:spPr>
        <p:txBody>
          <a:bodyPr wrap="square" rtlCol="0" anchor="ctr"/>
          <a:lstStyle/>
          <a:p>
            <a:pPr indent="0" marL="0">
              <a:lnSpc>
                <a:spcPct val="105000"/>
              </a:lnSpc>
              <a:buNone/>
            </a:pPr>
            <a:r>
              <a:rPr lang="en-US" sz="1200" dirty="0">
                <a:solidFill>
                  <a:srgbClr val="E9EEF5"/>
                </a:solidFill>
                <a:latin typeface="IBM Plex Sans" pitchFamily="34" charset="0"/>
                <a:ea typeface="IBM Plex Sans" pitchFamily="34" charset="-122"/>
                <a:cs typeface="IBM Plex Sans" pitchFamily="34" charset="-120"/>
              </a:rPr>
              <a:t>Build the fix and show it beat the baseline, live</a:t>
            </a:r>
            <a:endParaRPr lang="en-US" sz="1200" dirty="0"/>
          </a:p>
        </p:txBody>
      </p:sp>
      <p:sp>
        <p:nvSpPr>
          <p:cNvPr id="20" name="Text 17"/>
          <p:cNvSpPr txBox="1"/>
          <p:nvPr/>
        </p:nvSpPr>
        <p:spPr>
          <a:xfrm>
            <a:off x="6446520" y="4526280"/>
            <a:ext cx="2194560" cy="274320"/>
          </a:xfrm>
          <a:prstGeom prst="rect">
            <a:avLst/>
          </a:prstGeom>
          <a:noFill/>
          <a:ln/>
        </p:spPr>
        <p:txBody>
          <a:bodyPr wrap="square" rtlCol="0" anchor="ctr"/>
          <a:lstStyle/>
          <a:p>
            <a:pPr indent="0" marL="0">
              <a:buNone/>
            </a:pPr>
            <a:r>
              <a:rPr lang="en-US" sz="1000" b="1" dirty="0">
                <a:solidFill>
                  <a:srgbClr val="8496AB"/>
                </a:solidFill>
                <a:latin typeface="IBM Plex Mono" pitchFamily="34" charset="0"/>
                <a:ea typeface="IBM Plex Mono" pitchFamily="34" charset="-122"/>
                <a:cs typeface="IBM Plex Mono" pitchFamily="34" charset="-120"/>
              </a:rPr>
              <a:t>4 weeks</a:t>
            </a:r>
            <a:endParaRPr lang="en-US" sz="1000" dirty="0"/>
          </a:p>
        </p:txBody>
      </p:sp>
      <p:sp>
        <p:nvSpPr>
          <p:cNvPr id="21" name="Shape 18"/>
          <p:cNvSpPr/>
          <p:nvPr/>
        </p:nvSpPr>
        <p:spPr>
          <a:xfrm>
            <a:off x="9006840" y="2560320"/>
            <a:ext cx="2606040" cy="2286000"/>
          </a:xfrm>
          <a:prstGeom prst="roundRect">
            <a:avLst>
              <a:gd name="adj" fmla="val 2400"/>
            </a:avLst>
          </a:prstGeom>
          <a:solidFill>
            <a:srgbClr val="16202C"/>
          </a:solidFill>
          <a:ln w="12700">
            <a:solidFill>
              <a:srgbClr val="2A3846"/>
            </a:solidFill>
            <a:prstDash val="solid"/>
          </a:ln>
        </p:spPr>
      </p:sp>
      <p:sp>
        <p:nvSpPr>
          <p:cNvPr id="22" name="Text 19"/>
          <p:cNvSpPr txBox="1"/>
          <p:nvPr/>
        </p:nvSpPr>
        <p:spPr>
          <a:xfrm>
            <a:off x="9235440" y="2743200"/>
            <a:ext cx="2103120" cy="548640"/>
          </a:xfrm>
          <a:prstGeom prst="rect">
            <a:avLst/>
          </a:prstGeom>
          <a:noFill/>
          <a:ln/>
        </p:spPr>
        <p:txBody>
          <a:bodyPr wrap="square" rtlCol="0" anchor="ctr"/>
          <a:lstStyle/>
          <a:p>
            <a:pPr indent="0" marL="0">
              <a:buNone/>
            </a:pPr>
            <a:r>
              <a:rPr lang="en-US" sz="2600" b="1" dirty="0">
                <a:solidFill>
                  <a:srgbClr val="8496AB"/>
                </a:solidFill>
                <a:latin typeface="IBM Plex Mono" pitchFamily="34" charset="0"/>
                <a:ea typeface="IBM Plex Mono" pitchFamily="34" charset="-122"/>
                <a:cs typeface="IBM Plex Mono" pitchFamily="34" charset="-120"/>
              </a:rPr>
              <a:t>04</a:t>
            </a:r>
            <a:endParaRPr lang="en-US" sz="2600" dirty="0"/>
          </a:p>
        </p:txBody>
      </p:sp>
      <p:sp>
        <p:nvSpPr>
          <p:cNvPr id="23" name="Text 20"/>
          <p:cNvSpPr txBox="1"/>
          <p:nvPr/>
        </p:nvSpPr>
        <p:spPr>
          <a:xfrm>
            <a:off x="9235440" y="3337560"/>
            <a:ext cx="2194560" cy="274320"/>
          </a:xfrm>
          <a:prstGeom prst="rect">
            <a:avLst/>
          </a:prstGeom>
          <a:noFill/>
          <a:ln/>
        </p:spPr>
        <p:txBody>
          <a:bodyPr wrap="square" rtlCol="0" anchor="ctr"/>
          <a:lstStyle/>
          <a:p>
            <a:pPr indent="0" marL="0">
              <a:buNone/>
            </a:pPr>
            <a:r>
              <a:rPr lang="en-US" sz="1000" dirty="0">
                <a:solidFill>
                  <a:srgbClr val="8496AB"/>
                </a:solidFill>
                <a:latin typeface="IBM Plex Mono" pitchFamily="34" charset="0"/>
                <a:ea typeface="IBM Plex Mono" pitchFamily="34" charset="-122"/>
                <a:cs typeface="IBM Plex Mono" pitchFamily="34" charset="-120"/>
              </a:rPr>
              <a:t>25 Oct–14 Nov</a:t>
            </a:r>
            <a:endParaRPr lang="en-US" sz="1000" dirty="0"/>
          </a:p>
        </p:txBody>
      </p:sp>
      <p:sp>
        <p:nvSpPr>
          <p:cNvPr id="24" name="Text 21"/>
          <p:cNvSpPr txBox="1"/>
          <p:nvPr/>
        </p:nvSpPr>
        <p:spPr>
          <a:xfrm>
            <a:off x="9235440" y="3611880"/>
            <a:ext cx="2194560" cy="914400"/>
          </a:xfrm>
          <a:prstGeom prst="rect">
            <a:avLst/>
          </a:prstGeom>
          <a:noFill/>
          <a:ln/>
        </p:spPr>
        <p:txBody>
          <a:bodyPr wrap="square" rtlCol="0" anchor="ctr"/>
          <a:lstStyle/>
          <a:p>
            <a:pPr indent="0" marL="0">
              <a:lnSpc>
                <a:spcPct val="105000"/>
              </a:lnSpc>
              <a:buNone/>
            </a:pPr>
            <a:r>
              <a:rPr lang="en-US" sz="1200" dirty="0">
                <a:solidFill>
                  <a:srgbClr val="E9EEF5"/>
                </a:solidFill>
                <a:latin typeface="IBM Plex Sans" pitchFamily="34" charset="0"/>
                <a:ea typeface="IBM Plex Sans" pitchFamily="34" charset="-122"/>
                <a:cs typeface="IBM Plex Sans" pitchFamily="34" charset="-120"/>
              </a:rPr>
              <a:t>Measure everything and write the paper</a:t>
            </a:r>
            <a:endParaRPr lang="en-US" sz="1200" dirty="0"/>
          </a:p>
        </p:txBody>
      </p:sp>
      <p:sp>
        <p:nvSpPr>
          <p:cNvPr id="25" name="Text 22"/>
          <p:cNvSpPr txBox="1"/>
          <p:nvPr/>
        </p:nvSpPr>
        <p:spPr>
          <a:xfrm>
            <a:off x="9235440" y="4526280"/>
            <a:ext cx="2194560" cy="274320"/>
          </a:xfrm>
          <a:prstGeom prst="rect">
            <a:avLst/>
          </a:prstGeom>
          <a:noFill/>
          <a:ln/>
        </p:spPr>
        <p:txBody>
          <a:bodyPr wrap="square" rtlCol="0" anchor="ctr"/>
          <a:lstStyle/>
          <a:p>
            <a:pPr indent="0" marL="0">
              <a:buNone/>
            </a:pPr>
            <a:r>
              <a:rPr lang="en-US" sz="1000" b="1" dirty="0">
                <a:solidFill>
                  <a:srgbClr val="8496AB"/>
                </a:solidFill>
                <a:latin typeface="IBM Plex Mono" pitchFamily="34" charset="0"/>
                <a:ea typeface="IBM Plex Mono" pitchFamily="34" charset="-122"/>
                <a:cs typeface="IBM Plex Mono" pitchFamily="34" charset="-120"/>
              </a:rPr>
              <a:t>3 weeks</a:t>
            </a:r>
            <a:endParaRPr lang="en-US" sz="1000" dirty="0"/>
          </a:p>
        </p:txBody>
      </p:sp>
      <p:sp>
        <p:nvSpPr>
          <p:cNvPr id="26" name="Text 23"/>
          <p:cNvSpPr txBox="1"/>
          <p:nvPr/>
        </p:nvSpPr>
        <p:spPr>
          <a:xfrm>
            <a:off x="640080" y="5897880"/>
            <a:ext cx="10881360" cy="548640"/>
          </a:xfrm>
          <a:prstGeom prst="rect">
            <a:avLst/>
          </a:prstGeom>
          <a:noFill/>
          <a:ln/>
        </p:spPr>
        <p:txBody>
          <a:bodyPr wrap="square" rtlCol="0" anchor="ctr"/>
          <a:lstStyle/>
          <a:p>
            <a:pPr indent="0" marL="0">
              <a:lnSpc>
                <a:spcPct val="115000"/>
              </a:lnSpc>
              <a:buNone/>
            </a:pPr>
            <a:r>
              <a:rPr lang="en-US" sz="1250" dirty="0">
                <a:solidFill>
                  <a:srgbClr val="8496AB"/>
                </a:solidFill>
                <a:latin typeface="IBM Plex Sans" pitchFamily="34" charset="0"/>
                <a:ea typeface="IBM Plex Sans" pitchFamily="34" charset="-122"/>
                <a:cs typeface="IBM Plex Sans" pitchFamily="34" charset="-120"/>
              </a:rPr>
              <a:t>The job of this phase was a measured, vulnerable baseline — something for the fix to beat. That is exactly what we have.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640080" y="6473952"/>
            <a:ext cx="5486400" cy="274320"/>
          </a:xfrm>
          <a:prstGeom prst="rect">
            <a:avLst/>
          </a:prstGeom>
          <a:noFill/>
          <a:ln/>
        </p:spPr>
        <p:txBody>
          <a:bodyPr wrap="square" rtlCol="0" anchor="ctr"/>
          <a:lstStyle/>
          <a:p>
            <a:pPr indent="0" marL="0">
              <a:buNone/>
            </a:pPr>
            <a:r>
              <a:rPr lang="en-US" sz="900" dirty="0">
                <a:solidFill>
                  <a:srgbClr val="8496AB"/>
                </a:solidFill>
                <a:latin typeface="IBM Plex Mono" pitchFamily="34" charset="0"/>
                <a:ea typeface="IBM Plex Mono" pitchFamily="34" charset="-122"/>
                <a:cs typeface="IBM Plex Mono" pitchFamily="34" charset="-120"/>
              </a:rPr>
              <a:t>SentryGate · Phase 2</a:t>
            </a:r>
            <a:endParaRPr lang="en-US" sz="900" dirty="0"/>
          </a:p>
        </p:txBody>
      </p:sp>
      <p:sp>
        <p:nvSpPr>
          <p:cNvPr id="4" name="Text 1"/>
          <p:cNvSpPr txBox="1"/>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F2A93B"/>
                </a:solidFill>
                <a:latin typeface="IBM Plex Mono" pitchFamily="34" charset="0"/>
                <a:ea typeface="IBM Plex Mono" pitchFamily="34" charset="-122"/>
                <a:cs typeface="IBM Plex Mono" pitchFamily="34" charset="-120"/>
              </a:rPr>
              <a:t>IN ONE SENTENCE</a:t>
            </a:r>
            <a:endParaRPr lang="en-US" sz="1200" dirty="0"/>
          </a:p>
        </p:txBody>
      </p:sp>
      <p:sp>
        <p:nvSpPr>
          <p:cNvPr id="5" name="Shape 2"/>
          <p:cNvSpPr/>
          <p:nvPr/>
        </p:nvSpPr>
        <p:spPr>
          <a:xfrm>
            <a:off x="640080" y="2011680"/>
            <a:ext cx="10881360" cy="2286000"/>
          </a:xfrm>
          <a:prstGeom prst="roundRect">
            <a:avLst>
              <a:gd name="adj" fmla="val 3200"/>
            </a:avLst>
          </a:prstGeom>
          <a:solidFill>
            <a:srgbClr val="16202C"/>
          </a:solidFill>
          <a:ln w="12700">
            <a:solidFill>
              <a:srgbClr val="2A3846"/>
            </a:solidFill>
            <a:prstDash val="solid"/>
          </a:ln>
        </p:spPr>
      </p:sp>
      <p:sp>
        <p:nvSpPr>
          <p:cNvPr id="6" name="Text 3"/>
          <p:cNvSpPr txBox="1"/>
          <p:nvPr/>
        </p:nvSpPr>
        <p:spPr>
          <a:xfrm>
            <a:off x="1097280" y="2286000"/>
            <a:ext cx="9966960" cy="1280160"/>
          </a:xfrm>
          <a:prstGeom prst="rect">
            <a:avLst/>
          </a:prstGeom>
          <a:noFill/>
          <a:ln/>
        </p:spPr>
        <p:txBody>
          <a:bodyPr wrap="square" rtlCol="0" anchor="ctr"/>
          <a:lstStyle/>
          <a:p>
            <a:pPr indent="0" marL="0">
              <a:lnSpc>
                <a:spcPct val="110000"/>
              </a:lnSpc>
              <a:buNone/>
            </a:pPr>
            <a:r>
              <a:rPr lang="en-US" sz="2600" b="1" dirty="0">
                <a:solidFill>
                  <a:srgbClr val="E9EEF5"/>
                </a:solidFill>
                <a:latin typeface="IBM Plex Sans" pitchFamily="34" charset="0"/>
                <a:ea typeface="IBM Plex Sans" pitchFamily="34" charset="-122"/>
                <a:cs typeface="IBM Plex Sans" pitchFamily="34" charset="-120"/>
              </a:rPr>
              <a:t>On our own gateway, </a:t>
            </a:r>
            <a:pPr indent="0" marL="0">
              <a:lnSpc>
                <a:spcPct val="110000"/>
              </a:lnSpc>
              <a:buNone/>
            </a:pPr>
            <a:r>
              <a:rPr lang="en-US" sz="2600" b="1" dirty="0">
                <a:solidFill>
                  <a:srgbClr val="F2A93B"/>
                </a:solidFill>
                <a:latin typeface="IBM Plex Sans" pitchFamily="34" charset="0"/>
                <a:ea typeface="IBM Plex Sans" pitchFamily="34" charset="-122"/>
                <a:cs typeface="IBM Plex Sans" pitchFamily="34" charset="-120"/>
              </a:rPr>
              <a:t>97%</a:t>
            </a:r>
            <a:pPr indent="0" marL="0">
              <a:lnSpc>
                <a:spcPct val="110000"/>
              </a:lnSpc>
              <a:buNone/>
            </a:pPr>
            <a:r>
              <a:rPr lang="en-US" sz="2600" b="1" dirty="0">
                <a:solidFill>
                  <a:srgbClr val="E9EEF5"/>
                </a:solidFill>
                <a:latin typeface="IBM Plex Sans" pitchFamily="34" charset="0"/>
                <a:ea typeface="IBM Plex Sans" pitchFamily="34" charset="-122"/>
                <a:cs typeface="IBM Plex Sans" pitchFamily="34" charset="-120"/>
              </a:rPr>
              <a:t> of lazy rewordings were served a poisoned answer, and the filter ran </a:t>
            </a:r>
            <a:pPr indent="0" marL="0">
              <a:lnSpc>
                <a:spcPct val="110000"/>
              </a:lnSpc>
              <a:buNone/>
            </a:pPr>
            <a:r>
              <a:rPr lang="en-US" sz="2600" b="1" dirty="0">
                <a:solidFill>
                  <a:srgbClr val="E5484D"/>
                </a:solidFill>
                <a:latin typeface="IBM Plex Sans" pitchFamily="34" charset="0"/>
                <a:ea typeface="IBM Plex Sans" pitchFamily="34" charset="-122"/>
                <a:cs typeface="IBM Plex Sans" pitchFamily="34" charset="-120"/>
              </a:rPr>
              <a:t>zero</a:t>
            </a:r>
            <a:pPr indent="0" marL="0">
              <a:lnSpc>
                <a:spcPct val="110000"/>
              </a:lnSpc>
              <a:buNone/>
            </a:pPr>
            <a:r>
              <a:rPr lang="en-US" sz="2600" b="1" dirty="0">
                <a:solidFill>
                  <a:srgbClr val="E9EEF5"/>
                </a:solidFill>
                <a:latin typeface="IBM Plex Sans" pitchFamily="34" charset="0"/>
                <a:ea typeface="IBM Plex Sans" pitchFamily="34" charset="-122"/>
                <a:cs typeface="IBM Plex Sans" pitchFamily="34" charset="-120"/>
              </a:rPr>
              <a:t> times.</a:t>
            </a:r>
            <a:endParaRPr lang="en-US" sz="2600" dirty="0"/>
          </a:p>
        </p:txBody>
      </p:sp>
      <p:sp>
        <p:nvSpPr>
          <p:cNvPr id="7" name="Text 4"/>
          <p:cNvSpPr txBox="1"/>
          <p:nvPr/>
        </p:nvSpPr>
        <p:spPr>
          <a:xfrm>
            <a:off x="1097280" y="3611880"/>
            <a:ext cx="10058400" cy="548640"/>
          </a:xfrm>
          <a:prstGeom prst="rect">
            <a:avLst/>
          </a:prstGeom>
          <a:noFill/>
          <a:ln/>
        </p:spPr>
        <p:txBody>
          <a:bodyPr wrap="square" rtlCol="0" anchor="ctr"/>
          <a:lstStyle/>
          <a:p>
            <a:pPr indent="0" marL="0">
              <a:buNone/>
            </a:pPr>
            <a:r>
              <a:rPr lang="en-US" sz="1500" dirty="0">
                <a:solidFill>
                  <a:srgbClr val="8496AB"/>
                </a:solidFill>
                <a:latin typeface="IBM Plex Sans" pitchFamily="34" charset="0"/>
                <a:ea typeface="IBM Plex Sans" pitchFamily="34" charset="-122"/>
                <a:cs typeface="IBM Plex Sans" pitchFamily="34" charset="-120"/>
              </a:rPr>
              <a:t>Move the filter in front of the cache and it drops to zero — so we know exactly what to fix.</a:t>
            </a:r>
            <a:endParaRPr lang="en-US" sz="1500" dirty="0"/>
          </a:p>
        </p:txBody>
      </p:sp>
      <p:sp>
        <p:nvSpPr>
          <p:cNvPr id="8" name="Text 5"/>
          <p:cNvSpPr txBox="1"/>
          <p:nvPr/>
        </p:nvSpPr>
        <p:spPr>
          <a:xfrm>
            <a:off x="640080" y="4937760"/>
            <a:ext cx="5303520" cy="274320"/>
          </a:xfrm>
          <a:prstGeom prst="rect">
            <a:avLst/>
          </a:prstGeom>
          <a:noFill/>
          <a:ln/>
        </p:spPr>
        <p:txBody>
          <a:bodyPr wrap="square" rtlCol="0" anchor="ctr"/>
          <a:lstStyle/>
          <a:p>
            <a:pPr indent="0" marL="0">
              <a:buNone/>
            </a:pPr>
            <a:r>
              <a:rPr lang="en-US" sz="1000" spc="100" kern="0" dirty="0">
                <a:solidFill>
                  <a:srgbClr val="8496AB"/>
                </a:solidFill>
                <a:latin typeface="IBM Plex Mono" pitchFamily="34" charset="0"/>
                <a:ea typeface="IBM Plex Mono" pitchFamily="34" charset="-122"/>
                <a:cs typeface="IBM Plex Mono" pitchFamily="34" charset="-120"/>
              </a:rPr>
              <a:t>LIVE DEMO</a:t>
            </a:r>
            <a:endParaRPr lang="en-US" sz="1000" dirty="0"/>
          </a:p>
        </p:txBody>
      </p:sp>
      <p:sp>
        <p:nvSpPr>
          <p:cNvPr id="9" name="Text 6"/>
          <p:cNvSpPr txBox="1"/>
          <p:nvPr/>
        </p:nvSpPr>
        <p:spPr>
          <a:xfrm>
            <a:off x="640080" y="5212080"/>
            <a:ext cx="5303520" cy="365760"/>
          </a:xfrm>
          <a:prstGeom prst="rect">
            <a:avLst/>
          </a:prstGeom>
          <a:noFill/>
          <a:ln/>
        </p:spPr>
        <p:txBody>
          <a:bodyPr wrap="square" rtlCol="0" anchor="ctr"/>
          <a:lstStyle/>
          <a:p>
            <a:pPr indent="0" marL="0">
              <a:buNone/>
            </a:pPr>
            <a:r>
              <a:rPr lang="en-US" sz="1300" dirty="0">
                <a:solidFill>
                  <a:srgbClr val="E9EEF5"/>
                </a:solidFill>
                <a:latin typeface="IBM Plex Mono" pitchFamily="34" charset="0"/>
                <a:ea typeface="IBM Plex Mono" pitchFamily="34" charset="-122"/>
                <a:cs typeface="IBM Plex Mono" pitchFamily="34" charset="-120"/>
              </a:rPr>
              <a:t>make gateway-up &amp;&amp; make gateway-demo</a:t>
            </a:r>
            <a:endParaRPr lang="en-US" sz="1300" dirty="0"/>
          </a:p>
        </p:txBody>
      </p:sp>
      <p:sp>
        <p:nvSpPr>
          <p:cNvPr id="10" name="Text 7"/>
          <p:cNvSpPr txBox="1"/>
          <p:nvPr/>
        </p:nvSpPr>
        <p:spPr>
          <a:xfrm>
            <a:off x="6126480" y="4937760"/>
            <a:ext cx="5303520" cy="274320"/>
          </a:xfrm>
          <a:prstGeom prst="rect">
            <a:avLst/>
          </a:prstGeom>
          <a:noFill/>
          <a:ln/>
        </p:spPr>
        <p:txBody>
          <a:bodyPr wrap="square" rtlCol="0" anchor="ctr"/>
          <a:lstStyle/>
          <a:p>
            <a:pPr indent="0" marL="0">
              <a:buNone/>
            </a:pPr>
            <a:r>
              <a:rPr lang="en-US" sz="1000" spc="100" kern="0" dirty="0">
                <a:solidFill>
                  <a:srgbClr val="8496AB"/>
                </a:solidFill>
                <a:latin typeface="IBM Plex Mono" pitchFamily="34" charset="0"/>
                <a:ea typeface="IBM Plex Mono" pitchFamily="34" charset="-122"/>
                <a:cs typeface="IBM Plex Mono" pitchFamily="34" charset="-120"/>
              </a:rPr>
              <a:t>REPRODUCE THE RESULT</a:t>
            </a:r>
            <a:endParaRPr lang="en-US" sz="1000" dirty="0"/>
          </a:p>
        </p:txBody>
      </p:sp>
      <p:sp>
        <p:nvSpPr>
          <p:cNvPr id="11" name="Text 8"/>
          <p:cNvSpPr txBox="1"/>
          <p:nvPr/>
        </p:nvSpPr>
        <p:spPr>
          <a:xfrm>
            <a:off x="6126480" y="5212080"/>
            <a:ext cx="5303520" cy="365760"/>
          </a:xfrm>
          <a:prstGeom prst="rect">
            <a:avLst/>
          </a:prstGeom>
          <a:noFill/>
          <a:ln/>
        </p:spPr>
        <p:txBody>
          <a:bodyPr wrap="square" rtlCol="0" anchor="ctr"/>
          <a:lstStyle/>
          <a:p>
            <a:pPr indent="0" marL="0">
              <a:buNone/>
            </a:pPr>
            <a:r>
              <a:rPr lang="en-US" sz="1300" dirty="0">
                <a:solidFill>
                  <a:srgbClr val="E9EEF5"/>
                </a:solidFill>
                <a:latin typeface="IBM Plex Mono" pitchFamily="34" charset="0"/>
                <a:ea typeface="IBM Plex Mono" pitchFamily="34" charset="-122"/>
                <a:cs typeface="IBM Plex Mono" pitchFamily="34" charset="-120"/>
              </a:rPr>
              <a:t>make bypass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2026-09-24T19:34:55Z</dcterms:created>
  <dcterms:modified xsi:type="dcterms:W3CDTF">2026-09-24T19:34:55Z</dcterms:modified>
</cp:coreProperties>
</file>