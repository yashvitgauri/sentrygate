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Lazy edits</c:v>
                </c:pt>
              </c:strCache>
            </c:strRef>
          </c:tx>
          <c:spPr>
            <a:solidFill>
              <a:srgbClr val="FF9500"/>
            </a:solidFill>
            <a:ln w="38100" cap="flat">
              <a:solidFill>
                <a:srgbClr val="FF9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FF9500"/>
              </a:solidFill>
              <a:ln w="9525" cap="flat">
                <a:solidFill>
                  <a:srgbClr val="FF9500"/>
                </a:solidFill>
                <a:prstDash val="solid"/>
                <a:round/>
              </a:ln>
              <a:effectLst/>
            </c:spPr>
          </c:marker>
          <c:cat>
            <c:multiLvlStrRef>
              <c:f>Sheet1!$A$2:$A$8</c:f>
              <c:multiLvlStrCache>
                <c:ptCount val="7"/>
                <c:lvl>
                  <c:pt idx="0">
                    <c:v>0.95</c:v>
                  </c:pt>
                  <c:pt idx="1">
                    <c:v>0.9</c:v>
                  </c:pt>
                  <c:pt idx="2">
                    <c:v>0.85</c:v>
                  </c:pt>
                  <c:pt idx="3">
                    <c:v>0.8</c:v>
                  </c:pt>
                  <c:pt idx="4">
                    <c:v>0.75</c:v>
                  </c:pt>
                  <c:pt idx="5">
                    <c:v>0.7</c:v>
                  </c:pt>
                  <c:pt idx="6">
                    <c:v>0.65</c:v>
                  </c:pt>
                </c:lvl>
              </c:multiLvlStrCache>
            </c:multiLvlStrRef>
          </c:cat>
          <c:val>
            <c:numRef>
              <c:f>Sheet1!$B$2:$B$8</c:f>
              <c:numCache>
                <c:formatCode>General</c:formatCode>
                <c:ptCount val="7"/>
                <c:pt idx="0">
                  <c:v>90</c:v>
                </c:pt>
                <c:pt idx="1">
                  <c:v>95</c:v>
                </c:pt>
                <c:pt idx="2">
                  <c:v>97</c:v>
                </c:pt>
                <c:pt idx="3">
                  <c:v>98</c:v>
                </c:pt>
                <c:pt idx="4">
                  <c:v>99</c:v>
                </c:pt>
                <c:pt idx="5">
                  <c:v>99</c:v>
                </c:pt>
                <c:pt idx="6">
                  <c:v>100</c:v>
                </c:pt>
              </c:numCache>
            </c:numRef>
          </c:val>
          <c:smooth val="0"/>
        </c:ser>
        <c:ser>
          <c:idx val="1"/>
          <c:order val="1"/>
          <c:tx>
            <c:strRef>
              <c:f>Sheet1!$C$1</c:f>
              <c:strCache>
                <c:ptCount val="1"/>
                <c:pt idx="0">
                  <c:v>Full rewrites</c:v>
                </c:pt>
              </c:strCache>
            </c:strRef>
          </c:tx>
          <c:spPr>
            <a:solidFill>
              <a:srgbClr val="0071E3"/>
            </a:solidFill>
            <a:ln w="38100" cap="flat">
              <a:solidFill>
                <a:srgbClr val="0071E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71E3"/>
              </a:solidFill>
              <a:ln w="9525" cap="flat">
                <a:solidFill>
                  <a:srgbClr val="0071E3"/>
                </a:solidFill>
                <a:prstDash val="solid"/>
                <a:round/>
              </a:ln>
              <a:effectLst/>
            </c:spPr>
          </c:marker>
          <c:cat>
            <c:multiLvlStrRef>
              <c:f>Sheet1!$A$2:$A$8</c:f>
              <c:multiLvlStrCache>
                <c:ptCount val="7"/>
                <c:lvl>
                  <c:pt idx="0">
                    <c:v>0.95</c:v>
                  </c:pt>
                  <c:pt idx="1">
                    <c:v>0.9</c:v>
                  </c:pt>
                  <c:pt idx="2">
                    <c:v>0.85</c:v>
                  </c:pt>
                  <c:pt idx="3">
                    <c:v>0.8</c:v>
                  </c:pt>
                  <c:pt idx="4">
                    <c:v>0.75</c:v>
                  </c:pt>
                  <c:pt idx="5">
                    <c:v>0.7</c:v>
                  </c:pt>
                  <c:pt idx="6">
                    <c:v>0.65</c:v>
                  </c:pt>
                </c:lvl>
              </c:multiLvlStrCache>
            </c:multiLvlStrRef>
          </c:cat>
          <c:val>
            <c:numRef>
              <c:f>Sheet1!$C$2:$C$8</c:f>
              <c:numCache>
                <c:formatCode>General</c:formatCode>
                <c:ptCount val="7"/>
                <c:pt idx="0">
                  <c:v>3</c:v>
                </c:pt>
                <c:pt idx="1">
                  <c:v>13</c:v>
                </c:pt>
                <c:pt idx="2">
                  <c:v>28</c:v>
                </c:pt>
                <c:pt idx="3">
                  <c:v>44</c:v>
                </c:pt>
                <c:pt idx="4">
                  <c:v>63</c:v>
                </c:pt>
                <c:pt idx="5">
                  <c:v>74</c:v>
                </c:pt>
                <c:pt idx="6">
                  <c:v>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2D2D7"/>
            </a:solidFill>
            <a:prstDash val="solid"/>
            <a:round/>
          </a:ln>
        </c:spPr>
        <c:txPr>
          <a:bodyPr/>
          <a:lstStyle/>
          <a:p>
            <a:pPr>
              <a:defRPr sz="1000" b="0" i="0" u="none" strike="noStrike">
                <a:solidFill>
                  <a:srgbClr val="86868B"/>
                </a:solidFill>
                <a:latin typeface="Helvetica Neue"/>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8E8ED"/>
              </a:solidFill>
              <a:prstDash val="solid"/>
              <a:round/>
            </a:ln>
          </c:spPr>
        </c:majorGridlines>
        <c:numFmt formatCode="General" sourceLinked="0"/>
        <c:majorTickMark val="out"/>
        <c:minorTickMark val="none"/>
        <c:tickLblPos val="nextTo"/>
        <c:spPr>
          <a:ln w="12700" cap="flat">
            <a:solidFill>
              <a:srgbClr val="FFFFFF"/>
            </a:solidFill>
            <a:prstDash val="solid"/>
            <a:round/>
          </a:ln>
        </c:spPr>
        <c:txPr>
          <a:bodyPr/>
          <a:lstStyle/>
          <a:p>
            <a:pPr>
              <a:defRPr sz="1000" b="0" i="0" u="none" strike="noStrike">
                <a:solidFill>
                  <a:srgbClr val="86868B"/>
                </a:solidFill>
                <a:latin typeface="Helvetica Neue"/>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p50</c:v>
                </c:pt>
              </c:strCache>
            </c:strRef>
          </c:tx>
          <c:spPr>
            <a:solidFill>
              <a:srgbClr val="0071E3"/>
            </a:solidFill>
            <a:effectLst/>
          </c:spPr>
          <c:invertIfNegative val="0"/>
          <c:dLbls>
            <c:numFmt formatCode="#,##0" sourceLinked="0"/>
            <c:txPr>
              <a:bodyPr/>
              <a:lstStyle/>
              <a:p>
                <a:pPr>
                  <a:defRPr b="0" i="0" strike="noStrike" sz="900" u="none">
                    <a:solidFill>
                      <a:srgbClr val="6E6E73"/>
                    </a:solidFill>
                    <a:latin typeface="Helvetica Neue"/>
                  </a:defRPr>
                </a:pPr>
              </a:p>
            </c:txPr>
            <c:showLegendKey val="0"/>
            <c:showVal val="1"/>
            <c:showCatName val="0"/>
            <c:showSerName val="0"/>
            <c:showPercent val="0"/>
            <c:showBubbleSize val="0"/>
            <c:showLeaderLines val="0"/>
          </c:dLbls>
          <c:cat>
            <c:multiLvlStrRef>
              <c:f>Sheet1!$A$2:$A$4</c:f>
              <c:multiLvlStrCache>
                <c:ptCount val="3"/>
                <c:lvl>
                  <c:pt idx="0">
                    <c:v>Cache hit</c:v>
                  </c:pt>
                  <c:pt idx="1">
                    <c:v>Miss</c:v>
                  </c:pt>
                  <c:pt idx="2">
                    <c:v>Blocked</c:v>
                  </c:pt>
                </c:lvl>
              </c:multiLvlStrCache>
            </c:multiLvlStrRef>
          </c:cat>
          <c:val>
            <c:numRef>
              <c:f>Sheet1!$B$2:$B$4</c:f>
              <c:numCache>
                <c:formatCode>General</c:formatCode>
                <c:ptCount val="3"/>
                <c:pt idx="0">
                  <c:v>14</c:v>
                </c:pt>
                <c:pt idx="1">
                  <c:v>94</c:v>
                </c:pt>
                <c:pt idx="2">
                  <c:v>84</c:v>
                </c:pt>
              </c:numCache>
            </c:numRef>
          </c:val>
        </c:ser>
        <c:ser>
          <c:idx val="1"/>
          <c:order val="1"/>
          <c:tx>
            <c:strRef>
              <c:f>Sheet1!$C$1</c:f>
              <c:strCache>
                <c:ptCount val="1"/>
                <c:pt idx="0">
                  <c:v>p99</c:v>
                </c:pt>
              </c:strCache>
            </c:strRef>
          </c:tx>
          <c:spPr>
            <a:solidFill>
              <a:srgbClr val="CFE4FB"/>
            </a:solidFill>
            <a:effectLst/>
          </c:spPr>
          <c:invertIfNegative val="0"/>
          <c:dLbls>
            <c:numFmt formatCode="#,##0" sourceLinked="0"/>
            <c:txPr>
              <a:bodyPr/>
              <a:lstStyle/>
              <a:p>
                <a:pPr>
                  <a:defRPr b="0" i="0" strike="noStrike" sz="900" u="none">
                    <a:solidFill>
                      <a:srgbClr val="6E6E73"/>
                    </a:solidFill>
                    <a:latin typeface="Helvetica Neue"/>
                  </a:defRPr>
                </a:pPr>
              </a:p>
            </c:txPr>
            <c:showLegendKey val="0"/>
            <c:showVal val="1"/>
            <c:showCatName val="0"/>
            <c:showSerName val="0"/>
            <c:showPercent val="0"/>
            <c:showBubbleSize val="0"/>
            <c:showLeaderLines val="0"/>
          </c:dLbls>
          <c:cat>
            <c:multiLvlStrRef>
              <c:f>Sheet1!$A$2:$A$4</c:f>
              <c:multiLvlStrCache>
                <c:ptCount val="3"/>
                <c:lvl>
                  <c:pt idx="0">
                    <c:v>Cache hit</c:v>
                  </c:pt>
                  <c:pt idx="1">
                    <c:v>Miss</c:v>
                  </c:pt>
                  <c:pt idx="2">
                    <c:v>Blocked</c:v>
                  </c:pt>
                </c:lvl>
              </c:multiLvlStrCache>
            </c:multiLvlStrRef>
          </c:cat>
          <c:val>
            <c:numRef>
              <c:f>Sheet1!$C$2:$C$4</c:f>
              <c:numCache>
                <c:formatCode>General</c:formatCode>
                <c:ptCount val="3"/>
                <c:pt idx="0">
                  <c:v>108</c:v>
                </c:pt>
                <c:pt idx="1">
                  <c:v>265</c:v>
                </c:pt>
                <c:pt idx="2">
                  <c:v>236</c:v>
                </c:pt>
              </c:numCache>
            </c:numRef>
          </c:val>
        </c:ser>
        <c:dLbls>
          <c:numFmt formatCode="#,##0" sourceLinked="0"/>
          <c:txPr>
            <a:bodyPr/>
            <a:lstStyle/>
            <a:p>
              <a:pPr>
                <a:defRPr b="0" i="0" strike="noStrike" sz="900" u="none">
                  <a:solidFill>
                    <a:srgbClr val="6E6E73"/>
                  </a:solidFill>
                  <a:latin typeface="Helvetica Neue"/>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2D2D7"/>
            </a:solidFill>
            <a:prstDash val="solid"/>
            <a:round/>
          </a:ln>
        </c:spPr>
        <c:txPr>
          <a:bodyPr/>
          <a:lstStyle/>
          <a:p>
            <a:pPr>
              <a:defRPr sz="1000" b="0" i="0" u="none" strike="noStrike">
                <a:solidFill>
                  <a:srgbClr val="86868B"/>
                </a:solidFill>
                <a:latin typeface="Helvetica Neue"/>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E8ED"/>
              </a:solidFill>
              <a:prstDash val="solid"/>
              <a:round/>
            </a:ln>
          </c:spPr>
        </c:majorGridlines>
        <c:numFmt formatCode="General" sourceLinked="0"/>
        <c:majorTickMark val="out"/>
        <c:minorTickMark val="none"/>
        <c:tickLblPos val="nextTo"/>
        <c:spPr>
          <a:ln w="12700" cap="flat">
            <a:solidFill>
              <a:srgbClr val="FFFFFF"/>
            </a:solidFill>
            <a:prstDash val="solid"/>
            <a:round/>
          </a:ln>
        </c:spPr>
        <c:txPr>
          <a:bodyPr/>
          <a:lstStyle/>
          <a:p>
            <a:pPr>
              <a:defRPr sz="1000" b="0" i="0" u="none" strike="noStrike">
                <a:solidFill>
                  <a:srgbClr val="86868B"/>
                </a:solidFill>
                <a:latin typeface="Helvetica Neue"/>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checkpoint. Phase 1 proved the problem in a script. This one proves it on a real gateway we built, and shows the vulnerable baseline the fix will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recap from Phase 1, then the turn: that was a script. The question this checkpoint answers is whether it happens on a real running system.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runs today, in plain terms. A question hits the cache first. If the cache has seen something similar, it answers at once and the safety check is skipped - that is the hole. Only on a miss does the safety check run, then the model, and the answer is saved with its safety label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the number is earned. Real public datasets, two families of rewording kept apart, everything fired over HTTP at the running gateway, and a bypass counted only when the poison comes back AND the log says the filter never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Read the 0.85 row: at a normal cache setting, 97 percent of lazy rewordings were served the poison. Lazy edits leak at every setting. Full rewrites only match once the cache is loose. Same shape as Phase 1, at large scale on a real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every doubt with the checks. The safe-order row is the one to dwell on: run the exact same build with the filter moved in front of the cache, and the bypass drops to zero. Nothing else changed, so the order is the cause. That is the whole argument for the Phase 3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obvious question: why not just screen everything? Because the cache is seven times faster. This gap, from 25 thousand real requests, is exactly why real systems check the cache first, and so it is the reason the bypass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the Phase 3 fix in one idea. Today the cache asks one question. We add a second: was the original safe. The label is already stored, so the fix is a filter on a search that already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this checkpoint sits. Phase 2 is done. Phase 3 builds the fix and shows it beat this baseline, live. End of Phase 2 is exactly the right place to have a measured, vulnerable baseline and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sentence and stop. The demo is one command if there is time; the recorded capture is the fallback.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1965960"/>
            <a:ext cx="10058400" cy="365760"/>
          </a:xfrm>
          <a:prstGeom prst="rect">
            <a:avLst/>
          </a:prstGeom>
          <a:noFill/>
          <a:ln/>
        </p:spPr>
        <p:txBody>
          <a:bodyPr wrap="square" lIns="0" tIns="0" rIns="0" bIns="0" rtlCol="0" anchor="ctr"/>
          <a:lstStyle/>
          <a:p>
            <a:pPr indent="0" marL="0">
              <a:buNone/>
            </a:pPr>
            <a:r>
              <a:rPr lang="en-US" sz="1300" b="1" spc="150" kern="0" dirty="0">
                <a:solidFill>
                  <a:srgbClr val="0071E3"/>
                </a:solidFill>
                <a:latin typeface="Helvetica Neue" pitchFamily="34" charset="0"/>
                <a:ea typeface="Helvetica Neue" pitchFamily="34" charset="-122"/>
                <a:cs typeface="Helvetica Neue" pitchFamily="34" charset="-120"/>
              </a:rPr>
              <a:t>PROGRESS EVAL-1   ·   PHASE 2</a:t>
            </a:r>
            <a:endParaRPr lang="en-US" sz="1300" dirty="0"/>
          </a:p>
        </p:txBody>
      </p:sp>
      <p:sp>
        <p:nvSpPr>
          <p:cNvPr id="5" name="Text 2"/>
          <p:cNvSpPr txBox="1"/>
          <p:nvPr/>
        </p:nvSpPr>
        <p:spPr>
          <a:xfrm>
            <a:off x="822960" y="2468880"/>
            <a:ext cx="10241280" cy="1828800"/>
          </a:xfrm>
          <a:prstGeom prst="rect">
            <a:avLst/>
          </a:prstGeom>
          <a:noFill/>
          <a:ln/>
        </p:spPr>
        <p:txBody>
          <a:bodyPr wrap="square" lIns="0" tIns="0" rIns="0" bIns="0" rtlCol="0" anchor="ctr"/>
          <a:lstStyle/>
          <a:p>
            <a:pPr indent="0" marL="0">
              <a:lnSpc>
                <a:spcPct val="100000"/>
              </a:lnSpc>
              <a:buNone/>
            </a:pPr>
            <a:r>
              <a:rPr lang="en-US" sz="5400" b="1" dirty="0">
                <a:solidFill>
                  <a:srgbClr val="1D1D1F"/>
                </a:solidFill>
                <a:latin typeface="Helvetica Neue" pitchFamily="34" charset="0"/>
                <a:ea typeface="Helvetica Neue" pitchFamily="34" charset="-122"/>
                <a:cs typeface="Helvetica Neue" pitchFamily="34" charset="-120"/>
              </a:rPr>
              <a:t>The bypass, now on</a:t>
            </a:r>
            <a:endParaRPr lang="en-US" sz="5400" dirty="0"/>
          </a:p>
          <a:p>
            <a:pPr indent="0" marL="0">
              <a:lnSpc>
                <a:spcPct val="100000"/>
              </a:lnSpc>
              <a:buNone/>
            </a:pPr>
            <a:r>
              <a:rPr lang="en-US" sz="5400" b="1" dirty="0">
                <a:solidFill>
                  <a:srgbClr val="1D1D1F"/>
                </a:solidFill>
                <a:latin typeface="Helvetica Neue" pitchFamily="34" charset="0"/>
                <a:ea typeface="Helvetica Neue" pitchFamily="34" charset="-122"/>
                <a:cs typeface="Helvetica Neue" pitchFamily="34" charset="-120"/>
              </a:rPr>
              <a:t>our own gateway.</a:t>
            </a:r>
            <a:endParaRPr lang="en-US" sz="5400" dirty="0"/>
          </a:p>
        </p:txBody>
      </p:sp>
      <p:sp>
        <p:nvSpPr>
          <p:cNvPr id="6" name="Text 3"/>
          <p:cNvSpPr txBox="1"/>
          <p:nvPr/>
        </p:nvSpPr>
        <p:spPr>
          <a:xfrm>
            <a:off x="822960" y="4434840"/>
            <a:ext cx="8961120" cy="731520"/>
          </a:xfrm>
          <a:prstGeom prst="rect">
            <a:avLst/>
          </a:prstGeom>
          <a:noFill/>
          <a:ln/>
        </p:spPr>
        <p:txBody>
          <a:bodyPr wrap="square" lIns="0" tIns="0" rIns="0" bIns="0" rtlCol="0" anchor="ctr"/>
          <a:lstStyle/>
          <a:p>
            <a:pPr indent="0" marL="0">
              <a:lnSpc>
                <a:spcPct val="120000"/>
              </a:lnSpc>
              <a:buNone/>
            </a:pPr>
            <a:r>
              <a:rPr lang="en-US" sz="1700" dirty="0">
                <a:solidFill>
                  <a:srgbClr val="6E6E73"/>
                </a:solidFill>
                <a:latin typeface="Helvetica Neue" pitchFamily="34" charset="0"/>
                <a:ea typeface="Helvetica Neue" pitchFamily="34" charset="-122"/>
                <a:cs typeface="Helvetica Neue" pitchFamily="34" charset="-120"/>
              </a:rPr>
              <a:t>We built the gateway, and reproduced the cache bypass on it — with the real filter, the real embedder, and real Qdrant and Redis.</a:t>
            </a:r>
            <a:endParaRPr lang="en-US" sz="1700" dirty="0"/>
          </a:p>
        </p:txBody>
      </p:sp>
      <p:sp>
        <p:nvSpPr>
          <p:cNvPr id="7" name="Shape 4"/>
          <p:cNvSpPr/>
          <p:nvPr/>
        </p:nvSpPr>
        <p:spPr>
          <a:xfrm>
            <a:off x="822960" y="5532120"/>
            <a:ext cx="10515600" cy="0"/>
          </a:xfrm>
          <a:prstGeom prst="line">
            <a:avLst/>
          </a:prstGeom>
          <a:noFill/>
          <a:ln w="12700">
            <a:solidFill>
              <a:srgbClr val="D2D2D7"/>
            </a:solidFill>
            <a:prstDash val="solid"/>
          </a:ln>
        </p:spPr>
      </p:sp>
      <p:sp>
        <p:nvSpPr>
          <p:cNvPr id="8" name="Text 5"/>
          <p:cNvSpPr txBox="1"/>
          <p:nvPr/>
        </p:nvSpPr>
        <p:spPr>
          <a:xfrm>
            <a:off x="822960" y="5715000"/>
            <a:ext cx="3474720" cy="274320"/>
          </a:xfrm>
          <a:prstGeom prst="rect">
            <a:avLst/>
          </a:prstGeom>
          <a:noFill/>
          <a:ln/>
        </p:spPr>
        <p:txBody>
          <a:bodyPr wrap="square" lIns="0" tIns="0" rIns="0" bIns="0" rtlCol="0" anchor="ctr"/>
          <a:lstStyle/>
          <a:p>
            <a:pPr indent="0" marL="0">
              <a:buNone/>
            </a:pPr>
            <a:r>
              <a:rPr lang="en-US" sz="1000" spc="100" kern="0" dirty="0">
                <a:solidFill>
                  <a:srgbClr val="86868B"/>
                </a:solidFill>
                <a:latin typeface="Helvetica Neue" pitchFamily="34" charset="0"/>
                <a:ea typeface="Helvetica Neue" pitchFamily="34" charset="-122"/>
                <a:cs typeface="Helvetica Neue" pitchFamily="34" charset="-120"/>
              </a:rPr>
              <a:t>TEAM</a:t>
            </a:r>
            <a:endParaRPr lang="en-US" sz="1000" dirty="0"/>
          </a:p>
        </p:txBody>
      </p:sp>
      <p:sp>
        <p:nvSpPr>
          <p:cNvPr id="9" name="Text 6"/>
          <p:cNvSpPr txBox="1"/>
          <p:nvPr/>
        </p:nvSpPr>
        <p:spPr>
          <a:xfrm>
            <a:off x="822960" y="5989320"/>
            <a:ext cx="3474720" cy="457200"/>
          </a:xfrm>
          <a:prstGeom prst="rect">
            <a:avLst/>
          </a:prstGeom>
          <a:noFill/>
          <a:ln/>
        </p:spPr>
        <p:txBody>
          <a:bodyPr wrap="square" lIns="0" tIns="0" rIns="0" bIns="0" rtlCol="0" anchor="ct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Divyansh Sharma · Sarvagya Dabas · Yashvit Gauri</a:t>
            </a:r>
            <a:endParaRPr lang="en-US" sz="1200" dirty="0"/>
          </a:p>
        </p:txBody>
      </p:sp>
      <p:sp>
        <p:nvSpPr>
          <p:cNvPr id="10" name="Text 7"/>
          <p:cNvSpPr txBox="1"/>
          <p:nvPr/>
        </p:nvSpPr>
        <p:spPr>
          <a:xfrm>
            <a:off x="4480560" y="5715000"/>
            <a:ext cx="3474720" cy="274320"/>
          </a:xfrm>
          <a:prstGeom prst="rect">
            <a:avLst/>
          </a:prstGeom>
          <a:noFill/>
          <a:ln/>
        </p:spPr>
        <p:txBody>
          <a:bodyPr wrap="square" lIns="0" tIns="0" rIns="0" bIns="0" rtlCol="0" anchor="ctr"/>
          <a:lstStyle/>
          <a:p>
            <a:pPr indent="0" marL="0">
              <a:buNone/>
            </a:pPr>
            <a:r>
              <a:rPr lang="en-US" sz="1000" spc="100" kern="0" dirty="0">
                <a:solidFill>
                  <a:srgbClr val="86868B"/>
                </a:solidFill>
                <a:latin typeface="Helvetica Neue" pitchFamily="34" charset="0"/>
                <a:ea typeface="Helvetica Neue" pitchFamily="34" charset="-122"/>
                <a:cs typeface="Helvetica Neue" pitchFamily="34" charset="-120"/>
              </a:rPr>
              <a:t>WINDOW</a:t>
            </a:r>
            <a:endParaRPr lang="en-US" sz="1000" dirty="0"/>
          </a:p>
        </p:txBody>
      </p:sp>
      <p:sp>
        <p:nvSpPr>
          <p:cNvPr id="11" name="Text 8"/>
          <p:cNvSpPr txBox="1"/>
          <p:nvPr/>
        </p:nvSpPr>
        <p:spPr>
          <a:xfrm>
            <a:off x="4480560" y="5989320"/>
            <a:ext cx="3474720" cy="457200"/>
          </a:xfrm>
          <a:prstGeom prst="rect">
            <a:avLst/>
          </a:prstGeom>
          <a:noFill/>
          <a:ln/>
        </p:spPr>
        <p:txBody>
          <a:bodyPr wrap="square" lIns="0" tIns="0" rIns="0" bIns="0" rtlCol="0" anchor="ct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23 Aug – 26 Sep</a:t>
            </a:r>
            <a:endParaRPr lang="en-US" sz="1200" dirty="0"/>
          </a:p>
        </p:txBody>
      </p:sp>
      <p:sp>
        <p:nvSpPr>
          <p:cNvPr id="12" name="Text 9"/>
          <p:cNvSpPr txBox="1"/>
          <p:nvPr/>
        </p:nvSpPr>
        <p:spPr>
          <a:xfrm>
            <a:off x="8138160" y="5715000"/>
            <a:ext cx="3474720" cy="274320"/>
          </a:xfrm>
          <a:prstGeom prst="rect">
            <a:avLst/>
          </a:prstGeom>
          <a:noFill/>
          <a:ln/>
        </p:spPr>
        <p:txBody>
          <a:bodyPr wrap="square" lIns="0" tIns="0" rIns="0" bIns="0" rtlCol="0" anchor="ctr"/>
          <a:lstStyle/>
          <a:p>
            <a:pPr indent="0" marL="0">
              <a:buNone/>
            </a:pPr>
            <a:r>
              <a:rPr lang="en-US" sz="1000" spc="100" kern="0" dirty="0">
                <a:solidFill>
                  <a:srgbClr val="86868B"/>
                </a:solidFill>
                <a:latin typeface="Helvetica Neue" pitchFamily="34" charset="0"/>
                <a:ea typeface="Helvetica Neue" pitchFamily="34" charset="-122"/>
                <a:cs typeface="Helvetica Neue" pitchFamily="34" charset="-120"/>
              </a:rPr>
              <a:t>STATE</a:t>
            </a:r>
            <a:endParaRPr lang="en-US" sz="1000" dirty="0"/>
          </a:p>
        </p:txBody>
      </p:sp>
      <p:sp>
        <p:nvSpPr>
          <p:cNvPr id="13" name="Text 10"/>
          <p:cNvSpPr txBox="1"/>
          <p:nvPr/>
        </p:nvSpPr>
        <p:spPr>
          <a:xfrm>
            <a:off x="8138160" y="5989320"/>
            <a:ext cx="3474720" cy="457200"/>
          </a:xfrm>
          <a:prstGeom prst="rect">
            <a:avLst/>
          </a:prstGeom>
          <a:noFill/>
          <a:ln/>
        </p:spPr>
        <p:txBody>
          <a:bodyPr wrap="square" lIns="0" tIns="0" rIns="0" bIns="0" rtlCol="0" anchor="ct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Phase 2 complete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WHERE WE LEFT OFF</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Phase 1 proved the problem in a script.</a:t>
            </a:r>
            <a:endParaRPr lang="en-US" sz="3200" dirty="0"/>
          </a:p>
        </p:txBody>
      </p:sp>
      <p:sp>
        <p:nvSpPr>
          <p:cNvPr id="6" name="Shape 3"/>
          <p:cNvSpPr/>
          <p:nvPr/>
        </p:nvSpPr>
        <p:spPr>
          <a:xfrm>
            <a:off x="822960" y="2468880"/>
            <a:ext cx="10515600" cy="1828800"/>
          </a:xfrm>
          <a:prstGeom prst="roundRect">
            <a:avLst>
              <a:gd name="adj" fmla="val 5000"/>
            </a:avLst>
          </a:prstGeom>
          <a:solidFill>
            <a:srgbClr val="F5F5F7"/>
          </a:solidFill>
          <a:ln w="12700">
            <a:solidFill>
              <a:srgbClr val="F5F5F7"/>
            </a:solidFill>
            <a:prstDash val="solid"/>
          </a:ln>
        </p:spPr>
      </p:sp>
      <p:sp>
        <p:nvSpPr>
          <p:cNvPr id="7" name="Text 4"/>
          <p:cNvSpPr txBox="1"/>
          <p:nvPr/>
        </p:nvSpPr>
        <p:spPr>
          <a:xfrm>
            <a:off x="1371600" y="2651760"/>
            <a:ext cx="9418320" cy="1463040"/>
          </a:xfrm>
          <a:prstGeom prst="rect">
            <a:avLst/>
          </a:prstGeom>
          <a:noFill/>
          <a:ln/>
        </p:spPr>
        <p:txBody>
          <a:bodyPr wrap="square" lIns="0" tIns="0" rIns="0" bIns="0" rtlCol="0" anchor="ctr"/>
          <a:lstStyle/>
          <a:p>
            <a:pPr indent="0" marL="0">
              <a:lnSpc>
                <a:spcPct val="118000"/>
              </a:lnSpc>
              <a:buNone/>
            </a:pPr>
            <a:r>
              <a:rPr lang="en-US" sz="2500" dirty="0">
                <a:solidFill>
                  <a:srgbClr val="1D1D1F"/>
                </a:solidFill>
                <a:latin typeface="Helvetica Neue" pitchFamily="34" charset="0"/>
                <a:ea typeface="Helvetica Neue" pitchFamily="34" charset="-122"/>
                <a:cs typeface="Helvetica Neue" pitchFamily="34" charset="-120"/>
              </a:rPr>
              <a:t>“A cache hit returns before the safety filter is ever asked — so a reworded attack can be served an answer the filter would have blocked.”</a:t>
            </a:r>
            <a:endParaRPr lang="en-US" sz="2500" dirty="0"/>
          </a:p>
        </p:txBody>
      </p:sp>
      <p:sp>
        <p:nvSpPr>
          <p:cNvPr id="8" name="Text 5"/>
          <p:cNvSpPr txBox="1"/>
          <p:nvPr/>
        </p:nvSpPr>
        <p:spPr>
          <a:xfrm>
            <a:off x="822960" y="4663440"/>
            <a:ext cx="10058400" cy="548640"/>
          </a:xfrm>
          <a:prstGeom prst="rect">
            <a:avLst/>
          </a:prstGeom>
          <a:noFill/>
          <a:ln/>
        </p:spPr>
        <p:txBody>
          <a:bodyPr wrap="square" lIns="0" tIns="0" rIns="0" bIns="0" rtlCol="0" anchor="ctr"/>
          <a:lstStyle/>
          <a:p>
            <a:pPr indent="0" marL="0">
              <a:lnSpc>
                <a:spcPct val="120000"/>
              </a:lnSpc>
              <a:buNone/>
            </a:pPr>
            <a:r>
              <a:rPr lang="en-US" sz="1800" dirty="0">
                <a:solidFill>
                  <a:srgbClr val="6E6E73"/>
                </a:solidFill>
                <a:latin typeface="Helvetica Neue" pitchFamily="34" charset="0"/>
                <a:ea typeface="Helvetica Neue" pitchFamily="34" charset="-122"/>
                <a:cs typeface="Helvetica Neue" pitchFamily="34" charset="-120"/>
              </a:rPr>
              <a:t>This checkpoint answers one question: does it happen on a </a:t>
            </a:r>
            <a:pPr indent="0" marL="0">
              <a:lnSpc>
                <a:spcPct val="120000"/>
              </a:lnSpc>
              <a:buNone/>
            </a:pPr>
            <a:r>
              <a:rPr lang="en-US" sz="1800" b="1" dirty="0">
                <a:solidFill>
                  <a:srgbClr val="1D1D1F"/>
                </a:solidFill>
                <a:latin typeface="Helvetica Neue" pitchFamily="34" charset="0"/>
                <a:ea typeface="Helvetica Neue" pitchFamily="34" charset="-122"/>
                <a:cs typeface="Helvetica Neue" pitchFamily="34" charset="-120"/>
              </a:rPr>
              <a:t>real running system</a:t>
            </a:r>
            <a:pPr indent="0" marL="0">
              <a:lnSpc>
                <a:spcPct val="120000"/>
              </a:lnSpc>
              <a:buNone/>
            </a:pPr>
            <a:r>
              <a:rPr lang="en-US" sz="1800" dirty="0">
                <a:solidFill>
                  <a:srgbClr val="6E6E73"/>
                </a:solidFill>
                <a:latin typeface="Helvetica Neue" pitchFamily="34" charset="0"/>
                <a:ea typeface="Helvetica Neue" pitchFamily="34" charset="-122"/>
                <a:cs typeface="Helvetica Neue" pitchFamily="34" charset="-120"/>
              </a:rPr>
              <a:t>? It does.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WHAT WE BUILT</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A real gateway — and where the hole is.</a:t>
            </a:r>
            <a:endParaRPr lang="en-US" sz="3200" dirty="0"/>
          </a:p>
        </p:txBody>
      </p:sp>
      <p:sp>
        <p:nvSpPr>
          <p:cNvPr id="6" name="Shape 3"/>
          <p:cNvSpPr/>
          <p:nvPr/>
        </p:nvSpPr>
        <p:spPr>
          <a:xfrm>
            <a:off x="822960" y="3200400"/>
            <a:ext cx="1737360" cy="822960"/>
          </a:xfrm>
          <a:prstGeom prst="roundRect">
            <a:avLst>
              <a:gd name="adj" fmla="val 10000"/>
            </a:avLst>
          </a:prstGeom>
          <a:solidFill>
            <a:srgbClr val="F5F5F7"/>
          </a:solidFill>
          <a:ln w="12700">
            <a:solidFill>
              <a:srgbClr val="D2D2D7"/>
            </a:solidFill>
            <a:prstDash val="solid"/>
          </a:ln>
        </p:spPr>
      </p:sp>
      <p:sp>
        <p:nvSpPr>
          <p:cNvPr id="7" name="Text 4"/>
          <p:cNvSpPr txBox="1"/>
          <p:nvPr/>
        </p:nvSpPr>
        <p:spPr>
          <a:xfrm>
            <a:off x="896112" y="3200400"/>
            <a:ext cx="1591056" cy="822960"/>
          </a:xfrm>
          <a:prstGeom prst="rect">
            <a:avLst/>
          </a:prstGeom>
          <a:noFill/>
          <a:ln/>
        </p:spPr>
        <p:txBody>
          <a:bodyPr wrap="square" lIns="50800" tIns="50800" rIns="50800" bIns="50800" rtlCol="0" anchor="ctr"/>
          <a:lstStyle/>
          <a:p>
            <a:pPr algn="ctr" indent="0" marL="0">
              <a:lnSpc>
                <a:spcPct val="102000"/>
              </a:lnSpc>
              <a:buNone/>
            </a:pPr>
            <a:r>
              <a:rPr lang="en-US" sz="1300" dirty="0">
                <a:solidFill>
                  <a:srgbClr val="1D1D1F"/>
                </a:solidFill>
                <a:latin typeface="Helvetica Neue" pitchFamily="34" charset="0"/>
                <a:ea typeface="Helvetica Neue" pitchFamily="34" charset="-122"/>
                <a:cs typeface="Helvetica Neue" pitchFamily="34" charset="-120"/>
              </a:rPr>
              <a:t>A question</a:t>
            </a:r>
            <a:endParaRPr lang="en-US" sz="1300" dirty="0"/>
          </a:p>
        </p:txBody>
      </p:sp>
      <p:sp>
        <p:nvSpPr>
          <p:cNvPr id="8" name="Shape 5"/>
          <p:cNvSpPr/>
          <p:nvPr/>
        </p:nvSpPr>
        <p:spPr>
          <a:xfrm>
            <a:off x="2560320" y="3611880"/>
            <a:ext cx="457200" cy="0"/>
          </a:xfrm>
          <a:prstGeom prst="line">
            <a:avLst/>
          </a:prstGeom>
          <a:noFill/>
          <a:ln w="19050">
            <a:solidFill>
              <a:srgbClr val="86868B"/>
            </a:solidFill>
            <a:prstDash val="solid"/>
            <a:tailEnd type="triangle"/>
          </a:ln>
        </p:spPr>
      </p:sp>
      <p:sp>
        <p:nvSpPr>
          <p:cNvPr id="9" name="Shape 6"/>
          <p:cNvSpPr/>
          <p:nvPr/>
        </p:nvSpPr>
        <p:spPr>
          <a:xfrm>
            <a:off x="3017520" y="3200400"/>
            <a:ext cx="2103120" cy="822960"/>
          </a:xfrm>
          <a:prstGeom prst="roundRect">
            <a:avLst>
              <a:gd name="adj" fmla="val 10000"/>
            </a:avLst>
          </a:prstGeom>
          <a:solidFill>
            <a:srgbClr val="EAF3FF"/>
          </a:solidFill>
          <a:ln w="19050">
            <a:solidFill>
              <a:srgbClr val="0071E3"/>
            </a:solidFill>
            <a:prstDash val="solid"/>
          </a:ln>
        </p:spPr>
      </p:sp>
      <p:sp>
        <p:nvSpPr>
          <p:cNvPr id="10" name="Text 7"/>
          <p:cNvSpPr txBox="1"/>
          <p:nvPr/>
        </p:nvSpPr>
        <p:spPr>
          <a:xfrm>
            <a:off x="3090672" y="3200400"/>
            <a:ext cx="1956816" cy="822960"/>
          </a:xfrm>
          <a:prstGeom prst="rect">
            <a:avLst/>
          </a:prstGeom>
          <a:noFill/>
          <a:ln/>
        </p:spPr>
        <p:txBody>
          <a:bodyPr wrap="square" lIns="50800" tIns="50800" rIns="50800" bIns="50800" rtlCol="0" anchor="ctr"/>
          <a:lstStyle/>
          <a:p>
            <a:pPr algn="ctr" indent="0" marL="0">
              <a:lnSpc>
                <a:spcPct val="102000"/>
              </a:lnSpc>
              <a:buNone/>
            </a:pPr>
            <a:r>
              <a:rPr lang="en-US" sz="1250" b="1" dirty="0">
                <a:solidFill>
                  <a:srgbClr val="1D1D1F"/>
                </a:solidFill>
                <a:latin typeface="Helvetica Neue" pitchFamily="34" charset="0"/>
                <a:ea typeface="Helvetica Neue" pitchFamily="34" charset="-122"/>
                <a:cs typeface="Helvetica Neue" pitchFamily="34" charset="-120"/>
              </a:rPr>
              <a:t>Cache</a:t>
            </a:r>
            <a:pPr algn="ctr" indent="0" marL="0">
              <a:lnSpc>
                <a:spcPct val="102000"/>
              </a:lnSpc>
              <a:buNone/>
            </a:pPr>
            <a:endParaRPr lang="en-US" sz="1250" dirty="0"/>
          </a:p>
          <a:p>
            <a:pPr algn="ctr" indent="0" marL="0">
              <a:lnSpc>
                <a:spcPct val="102000"/>
              </a:lnSpc>
              <a:buNone/>
            </a:pPr>
            <a:r>
              <a:rPr lang="en-US" sz="1050" dirty="0">
                <a:solidFill>
                  <a:srgbClr val="6E6E73"/>
                </a:solidFill>
                <a:latin typeface="Helvetica Neue" pitchFamily="34" charset="0"/>
                <a:ea typeface="Helvetica Neue" pitchFamily="34" charset="-122"/>
                <a:cs typeface="Helvetica Neue" pitchFamily="34" charset="-120"/>
              </a:rPr>
              <a:t>checked first</a:t>
            </a:r>
            <a:endParaRPr lang="en-US" sz="1250" dirty="0"/>
          </a:p>
        </p:txBody>
      </p:sp>
      <p:sp>
        <p:nvSpPr>
          <p:cNvPr id="11" name="Shape 8"/>
          <p:cNvSpPr/>
          <p:nvPr/>
        </p:nvSpPr>
        <p:spPr>
          <a:xfrm>
            <a:off x="5120640" y="3611880"/>
            <a:ext cx="1280160" cy="-822960"/>
          </a:xfrm>
          <a:prstGeom prst="line">
            <a:avLst/>
          </a:prstGeom>
          <a:noFill/>
          <a:ln w="22225">
            <a:solidFill>
              <a:srgbClr val="FF3B30"/>
            </a:solidFill>
            <a:prstDash val="solid"/>
            <a:tailEnd type="triangle"/>
          </a:ln>
        </p:spPr>
      </p:sp>
      <p:sp>
        <p:nvSpPr>
          <p:cNvPr id="12" name="Text 9"/>
          <p:cNvSpPr txBox="1"/>
          <p:nvPr/>
        </p:nvSpPr>
        <p:spPr>
          <a:xfrm>
            <a:off x="5166360" y="2907792"/>
            <a:ext cx="1097280" cy="256032"/>
          </a:xfrm>
          <a:prstGeom prst="rect">
            <a:avLst/>
          </a:prstGeom>
          <a:noFill/>
          <a:ln/>
        </p:spPr>
        <p:txBody>
          <a:bodyPr wrap="square" lIns="0" tIns="0" rIns="0" bIns="0" rtlCol="0" anchor="ctr"/>
          <a:lstStyle/>
          <a:p>
            <a:pPr algn="ctr" indent="0" marL="0">
              <a:buNone/>
            </a:pPr>
            <a:r>
              <a:rPr lang="en-US" sz="1000" dirty="0">
                <a:solidFill>
                  <a:srgbClr val="FF3B30"/>
                </a:solidFill>
                <a:latin typeface="Helvetica Neue" pitchFamily="34" charset="0"/>
                <a:ea typeface="Helvetica Neue" pitchFamily="34" charset="-122"/>
                <a:cs typeface="Helvetica Neue" pitchFamily="34" charset="-120"/>
              </a:rPr>
              <a:t>match</a:t>
            </a:r>
            <a:endParaRPr lang="en-US" sz="1000" dirty="0"/>
          </a:p>
        </p:txBody>
      </p:sp>
      <p:sp>
        <p:nvSpPr>
          <p:cNvPr id="13" name="Shape 10"/>
          <p:cNvSpPr/>
          <p:nvPr/>
        </p:nvSpPr>
        <p:spPr>
          <a:xfrm>
            <a:off x="6400800" y="2377440"/>
            <a:ext cx="2286000" cy="822960"/>
          </a:xfrm>
          <a:prstGeom prst="roundRect">
            <a:avLst>
              <a:gd name="adj" fmla="val 10000"/>
            </a:avLst>
          </a:prstGeom>
          <a:solidFill>
            <a:srgbClr val="FFF0EE"/>
          </a:solidFill>
          <a:ln w="12700">
            <a:solidFill>
              <a:srgbClr val="FF3B30"/>
            </a:solidFill>
            <a:prstDash val="solid"/>
          </a:ln>
        </p:spPr>
      </p:sp>
      <p:sp>
        <p:nvSpPr>
          <p:cNvPr id="14" name="Text 11"/>
          <p:cNvSpPr txBox="1"/>
          <p:nvPr/>
        </p:nvSpPr>
        <p:spPr>
          <a:xfrm>
            <a:off x="6473952" y="2377440"/>
            <a:ext cx="2139696" cy="822960"/>
          </a:xfrm>
          <a:prstGeom prst="rect">
            <a:avLst/>
          </a:prstGeom>
          <a:noFill/>
          <a:ln/>
        </p:spPr>
        <p:txBody>
          <a:bodyPr wrap="square" lIns="50800" tIns="50800" rIns="50800" bIns="50800" rtlCol="0" anchor="ctr"/>
          <a:lstStyle/>
          <a:p>
            <a:pPr algn="ctr" indent="0" marL="0">
              <a:lnSpc>
                <a:spcPct val="102000"/>
              </a:lnSpc>
              <a:buNone/>
            </a:pPr>
            <a:r>
              <a:rPr lang="en-US" sz="1300" b="1" dirty="0">
                <a:solidFill>
                  <a:srgbClr val="1D1D1F"/>
                </a:solidFill>
                <a:latin typeface="Helvetica Neue" pitchFamily="34" charset="0"/>
                <a:ea typeface="Helvetica Neue" pitchFamily="34" charset="-122"/>
                <a:cs typeface="Helvetica Neue" pitchFamily="34" charset="-120"/>
              </a:rPr>
              <a:t>Answer served</a:t>
            </a:r>
            <a:endParaRPr lang="en-US" sz="1300" dirty="0"/>
          </a:p>
        </p:txBody>
      </p:sp>
      <p:sp>
        <p:nvSpPr>
          <p:cNvPr id="15" name="Text 12"/>
          <p:cNvSpPr txBox="1"/>
          <p:nvPr/>
        </p:nvSpPr>
        <p:spPr>
          <a:xfrm>
            <a:off x="8823960" y="2468880"/>
            <a:ext cx="2834640" cy="640080"/>
          </a:xfrm>
          <a:prstGeom prst="rect">
            <a:avLst/>
          </a:prstGeom>
          <a:noFill/>
          <a:ln/>
        </p:spPr>
        <p:txBody>
          <a:bodyPr wrap="square" lIns="0" tIns="0" rIns="0" bIns="0" rtlCol="0" anchor="ctr"/>
          <a:lstStyle/>
          <a:p>
            <a:pPr algn="l" indent="0" marL="0">
              <a:lnSpc>
                <a:spcPct val="105000"/>
              </a:lnSpc>
              <a:buNone/>
            </a:pPr>
            <a:r>
              <a:rPr lang="en-US" sz="1200" b="1" dirty="0">
                <a:solidFill>
                  <a:srgbClr val="FF3B30"/>
                </a:solidFill>
                <a:latin typeface="Helvetica Neue" pitchFamily="34" charset="0"/>
                <a:ea typeface="Helvetica Neue" pitchFamily="34" charset="-122"/>
                <a:cs typeface="Helvetica Neue" pitchFamily="34" charset="-120"/>
              </a:rPr>
              <a:t>The safety check is skipped — the hole.</a:t>
            </a:r>
            <a:endParaRPr lang="en-US" sz="1200" dirty="0"/>
          </a:p>
        </p:txBody>
      </p:sp>
      <p:sp>
        <p:nvSpPr>
          <p:cNvPr id="16" name="Shape 13"/>
          <p:cNvSpPr/>
          <p:nvPr/>
        </p:nvSpPr>
        <p:spPr>
          <a:xfrm>
            <a:off x="5120640" y="3611880"/>
            <a:ext cx="1280160" cy="1417320"/>
          </a:xfrm>
          <a:prstGeom prst="line">
            <a:avLst/>
          </a:prstGeom>
          <a:noFill/>
          <a:ln w="22225">
            <a:solidFill>
              <a:srgbClr val="86868B"/>
            </a:solidFill>
            <a:prstDash val="solid"/>
            <a:tailEnd type="triangle"/>
          </a:ln>
        </p:spPr>
      </p:sp>
      <p:sp>
        <p:nvSpPr>
          <p:cNvPr id="17" name="Text 14"/>
          <p:cNvSpPr txBox="1"/>
          <p:nvPr/>
        </p:nvSpPr>
        <p:spPr>
          <a:xfrm>
            <a:off x="5166360" y="4302252"/>
            <a:ext cx="1097280" cy="256032"/>
          </a:xfrm>
          <a:prstGeom prst="rect">
            <a:avLst/>
          </a:prstGeom>
          <a:noFill/>
          <a:ln/>
        </p:spPr>
        <p:txBody>
          <a:bodyPr wrap="square" lIns="0" tIns="0" rIns="0" bIns="0" rtlCol="0" anchor="ctr"/>
          <a:lstStyle/>
          <a:p>
            <a:pPr algn="ctr" indent="0" marL="0">
              <a:buNone/>
            </a:pPr>
            <a:r>
              <a:rPr lang="en-US" sz="1000" dirty="0">
                <a:solidFill>
                  <a:srgbClr val="86868B"/>
                </a:solidFill>
                <a:latin typeface="Helvetica Neue" pitchFamily="34" charset="0"/>
                <a:ea typeface="Helvetica Neue" pitchFamily="34" charset="-122"/>
                <a:cs typeface="Helvetica Neue" pitchFamily="34" charset="-120"/>
              </a:rPr>
              <a:t>no match</a:t>
            </a:r>
            <a:endParaRPr lang="en-US" sz="1000" dirty="0"/>
          </a:p>
        </p:txBody>
      </p:sp>
      <p:sp>
        <p:nvSpPr>
          <p:cNvPr id="18" name="Shape 15"/>
          <p:cNvSpPr/>
          <p:nvPr/>
        </p:nvSpPr>
        <p:spPr>
          <a:xfrm>
            <a:off x="6400800" y="4617720"/>
            <a:ext cx="2286000" cy="822960"/>
          </a:xfrm>
          <a:prstGeom prst="roundRect">
            <a:avLst>
              <a:gd name="adj" fmla="val 10000"/>
            </a:avLst>
          </a:prstGeom>
          <a:solidFill>
            <a:srgbClr val="F5F5F7"/>
          </a:solidFill>
          <a:ln w="12700">
            <a:solidFill>
              <a:srgbClr val="D2D2D7"/>
            </a:solidFill>
            <a:prstDash val="solid"/>
          </a:ln>
        </p:spPr>
      </p:sp>
      <p:sp>
        <p:nvSpPr>
          <p:cNvPr id="19" name="Text 16"/>
          <p:cNvSpPr txBox="1"/>
          <p:nvPr/>
        </p:nvSpPr>
        <p:spPr>
          <a:xfrm>
            <a:off x="6473952" y="4617720"/>
            <a:ext cx="2139696" cy="822960"/>
          </a:xfrm>
          <a:prstGeom prst="rect">
            <a:avLst/>
          </a:prstGeom>
          <a:noFill/>
          <a:ln/>
        </p:spPr>
        <p:txBody>
          <a:bodyPr wrap="square" lIns="50800" tIns="50800" rIns="50800" bIns="50800" rtlCol="0" anchor="ctr"/>
          <a:lstStyle/>
          <a:p>
            <a:pPr algn="ctr" indent="0" marL="0">
              <a:lnSpc>
                <a:spcPct val="102000"/>
              </a:lnSpc>
              <a:buNone/>
            </a:pPr>
            <a:r>
              <a:rPr lang="en-US" sz="1300" b="1" dirty="0">
                <a:solidFill>
                  <a:srgbClr val="1D1D1F"/>
                </a:solidFill>
                <a:latin typeface="Helvetica Neue" pitchFamily="34" charset="0"/>
                <a:ea typeface="Helvetica Neue" pitchFamily="34" charset="-122"/>
                <a:cs typeface="Helvetica Neue" pitchFamily="34" charset="-120"/>
              </a:rPr>
              <a:t>Safety check</a:t>
            </a:r>
            <a:endParaRPr lang="en-US" sz="1300" dirty="0"/>
          </a:p>
        </p:txBody>
      </p:sp>
      <p:sp>
        <p:nvSpPr>
          <p:cNvPr id="20" name="Shape 17"/>
          <p:cNvSpPr/>
          <p:nvPr/>
        </p:nvSpPr>
        <p:spPr>
          <a:xfrm>
            <a:off x="8686800" y="5029200"/>
            <a:ext cx="457200" cy="0"/>
          </a:xfrm>
          <a:prstGeom prst="line">
            <a:avLst/>
          </a:prstGeom>
          <a:noFill/>
          <a:ln w="19050">
            <a:solidFill>
              <a:srgbClr val="86868B"/>
            </a:solidFill>
            <a:prstDash val="solid"/>
            <a:tailEnd type="triangle"/>
          </a:ln>
        </p:spPr>
      </p:sp>
      <p:sp>
        <p:nvSpPr>
          <p:cNvPr id="21" name="Shape 18"/>
          <p:cNvSpPr/>
          <p:nvPr/>
        </p:nvSpPr>
        <p:spPr>
          <a:xfrm>
            <a:off x="9144000" y="4617720"/>
            <a:ext cx="1737360" cy="822960"/>
          </a:xfrm>
          <a:prstGeom prst="roundRect">
            <a:avLst>
              <a:gd name="adj" fmla="val 10000"/>
            </a:avLst>
          </a:prstGeom>
          <a:solidFill>
            <a:srgbClr val="F5F5F7"/>
          </a:solidFill>
          <a:ln w="12700">
            <a:solidFill>
              <a:srgbClr val="D2D2D7"/>
            </a:solidFill>
            <a:prstDash val="solid"/>
          </a:ln>
        </p:spPr>
      </p:sp>
      <p:sp>
        <p:nvSpPr>
          <p:cNvPr id="22" name="Text 19"/>
          <p:cNvSpPr txBox="1"/>
          <p:nvPr/>
        </p:nvSpPr>
        <p:spPr>
          <a:xfrm>
            <a:off x="9217152" y="4617720"/>
            <a:ext cx="1591056" cy="822960"/>
          </a:xfrm>
          <a:prstGeom prst="rect">
            <a:avLst/>
          </a:prstGeom>
          <a:noFill/>
          <a:ln/>
        </p:spPr>
        <p:txBody>
          <a:bodyPr wrap="square" lIns="50800" tIns="50800" rIns="50800" bIns="50800" rtlCol="0" anchor="ctr"/>
          <a:lstStyle/>
          <a:p>
            <a:pPr algn="ctr" indent="0" marL="0">
              <a:lnSpc>
                <a:spcPct val="102000"/>
              </a:lnSpc>
              <a:buNone/>
            </a:pPr>
            <a:r>
              <a:rPr lang="en-US" sz="1300" b="1" dirty="0">
                <a:solidFill>
                  <a:srgbClr val="1D1D1F"/>
                </a:solidFill>
                <a:latin typeface="Helvetica Neue" pitchFamily="34" charset="0"/>
                <a:ea typeface="Helvetica Neue" pitchFamily="34" charset="-122"/>
                <a:cs typeface="Helvetica Neue" pitchFamily="34" charset="-120"/>
              </a:rPr>
              <a:t>Model</a:t>
            </a:r>
            <a:endParaRPr lang="en-US" sz="1300" dirty="0"/>
          </a:p>
        </p:txBody>
      </p:sp>
      <p:sp>
        <p:nvSpPr>
          <p:cNvPr id="23" name="Text 20"/>
          <p:cNvSpPr txBox="1"/>
          <p:nvPr/>
        </p:nvSpPr>
        <p:spPr>
          <a:xfrm>
            <a:off x="822960" y="598932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The safety check sits after the cache. When the cache finds a match it answers first and the check never runs — which is exactly what a reworded attack exploits.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THE EXPERIMENT</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239 real attacks, </a:t>
            </a:r>
            <a:pPr indent="0" marL="0">
              <a:lnSpc>
                <a:spcPct val="103000"/>
              </a:lnSpc>
              <a:buNone/>
            </a:pPr>
            <a:r>
              <a:rPr lang="en-US" sz="3200" b="1" dirty="0">
                <a:solidFill>
                  <a:srgbClr val="0071E3"/>
                </a:solidFill>
                <a:latin typeface="Helvetica Neue" pitchFamily="34" charset="0"/>
                <a:ea typeface="Helvetica Neue" pitchFamily="34" charset="-122"/>
                <a:cs typeface="Helvetica Neue" pitchFamily="34" charset="-120"/>
              </a:rPr>
              <a:t>2,838 rewordings</a:t>
            </a:r>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 on the live gateway.</a:t>
            </a:r>
            <a:endParaRPr lang="en-US" sz="3200" dirty="0"/>
          </a:p>
        </p:txBody>
      </p:sp>
      <p:sp>
        <p:nvSpPr>
          <p:cNvPr id="6" name="Text 3"/>
          <p:cNvSpPr txBox="1"/>
          <p:nvPr/>
        </p:nvSpPr>
        <p:spPr>
          <a:xfrm>
            <a:off x="822960" y="2514600"/>
            <a:ext cx="5669280" cy="2743200"/>
          </a:xfrm>
          <a:prstGeom prst="rect">
            <a:avLst/>
          </a:prstGeom>
          <a:noFill/>
          <a:ln/>
        </p:spPr>
        <p:txBody>
          <a:bodyPr wrap="square" lIns="0" tIns="0" rIns="0" bIns="0" rtlCol="0" anchor="ctr"/>
          <a:lstStyle/>
          <a:p>
            <a:pPr marL="203200" indent="-203200">
              <a:lnSpc>
                <a:spcPct val="115000"/>
              </a:lnSpc>
              <a:spcAft>
                <a:spcPts val="1200"/>
              </a:spcAft>
              <a:buSzPct val="100000"/>
              <a:buChar char="•"/>
            </a:pPr>
            <a:r>
              <a:rPr lang="en-US" sz="1600" dirty="0">
                <a:solidFill>
                  <a:srgbClr val="1D1D1F"/>
                </a:solidFill>
                <a:latin typeface="Helvetica Neue" pitchFamily="34" charset="0"/>
                <a:ea typeface="Helvetica Neue" pitchFamily="34" charset="-122"/>
                <a:cs typeface="Helvetica Neue" pitchFamily="34" charset="-120"/>
              </a:rPr>
              <a:t>Seeds from two public datasets of real prompt-injection attacks.</a:t>
            </a:r>
            <a:endParaRPr lang="en-US" sz="1600" dirty="0"/>
          </a:p>
          <a:p>
            <a:pPr marL="203200" indent="-203200">
              <a:lnSpc>
                <a:spcPct val="115000"/>
              </a:lnSpc>
              <a:spcAft>
                <a:spcPts val="1200"/>
              </a:spcAft>
              <a:buSzPct val="100000"/>
              <a:buChar char="•"/>
            </a:pPr>
            <a:r>
              <a:rPr lang="en-US" sz="1600" dirty="0">
                <a:solidFill>
                  <a:srgbClr val="1D1D1F"/>
                </a:solidFill>
                <a:latin typeface="Helvetica Neue" pitchFamily="34" charset="0"/>
                <a:ea typeface="Helvetica Neue" pitchFamily="34" charset="-122"/>
                <a:cs typeface="Helvetica Neue" pitchFamily="34" charset="-120"/>
              </a:rPr>
              <a:t>Two families, kept apart: lazy edits (a capital, a full stop, a filler word) and full rewrites (real paraphrases).</a:t>
            </a:r>
            <a:endParaRPr lang="en-US" sz="1600" dirty="0"/>
          </a:p>
          <a:p>
            <a:pPr marL="203200" indent="-203200">
              <a:lnSpc>
                <a:spcPct val="115000"/>
              </a:lnSpc>
              <a:buSzPct val="100000"/>
              <a:buChar char="•"/>
            </a:pPr>
            <a:r>
              <a:rPr lang="en-US" sz="1600" dirty="0">
                <a:solidFill>
                  <a:srgbClr val="1D1D1F"/>
                </a:solidFill>
                <a:latin typeface="Helvetica Neue" pitchFamily="34" charset="0"/>
                <a:ea typeface="Helvetica Neue" pitchFamily="34" charset="-122"/>
                <a:cs typeface="Helvetica Neue" pitchFamily="34" charset="-120"/>
              </a:rPr>
              <a:t>Every variant fired at the running gateway over HTTP, exactly like a real user.</a:t>
            </a:r>
            <a:endParaRPr lang="en-US" sz="1600" dirty="0"/>
          </a:p>
        </p:txBody>
      </p:sp>
      <p:sp>
        <p:nvSpPr>
          <p:cNvPr id="7" name="Shape 4"/>
          <p:cNvSpPr/>
          <p:nvPr/>
        </p:nvSpPr>
        <p:spPr>
          <a:xfrm>
            <a:off x="6858000" y="2377440"/>
            <a:ext cx="4663440" cy="2788920"/>
          </a:xfrm>
          <a:prstGeom prst="roundRect">
            <a:avLst>
              <a:gd name="adj" fmla="val 3279"/>
            </a:avLst>
          </a:prstGeom>
          <a:solidFill>
            <a:srgbClr val="F5F5F7"/>
          </a:solidFill>
          <a:ln w="12700">
            <a:solidFill>
              <a:srgbClr val="F5F5F7"/>
            </a:solidFill>
            <a:prstDash val="solid"/>
          </a:ln>
        </p:spPr>
      </p:sp>
      <p:sp>
        <p:nvSpPr>
          <p:cNvPr id="8" name="Text 5"/>
          <p:cNvSpPr txBox="1"/>
          <p:nvPr/>
        </p:nvSpPr>
        <p:spPr>
          <a:xfrm>
            <a:off x="7178040" y="2651760"/>
            <a:ext cx="4114800" cy="365760"/>
          </a:xfrm>
          <a:prstGeom prst="rect">
            <a:avLst/>
          </a:prstGeom>
          <a:noFill/>
          <a:ln/>
        </p:spPr>
        <p:txBody>
          <a:bodyPr wrap="square" lIns="0" tIns="0" rIns="0" bIns="0" rtlCol="0" anchor="ctr"/>
          <a:lstStyle/>
          <a:p>
            <a:pPr indent="0" marL="0">
              <a:buNone/>
            </a:pPr>
            <a:r>
              <a:rPr lang="en-US" sz="1100" b="1" spc="100" kern="0" dirty="0">
                <a:solidFill>
                  <a:srgbClr val="0071E3"/>
                </a:solidFill>
                <a:latin typeface="Helvetica Neue" pitchFamily="34" charset="0"/>
                <a:ea typeface="Helvetica Neue" pitchFamily="34" charset="-122"/>
                <a:cs typeface="Helvetica Neue" pitchFamily="34" charset="-120"/>
              </a:rPr>
              <a:t>WE ONLY COUNT A REAL BYPASS</a:t>
            </a:r>
            <a:endParaRPr lang="en-US" sz="1100" dirty="0"/>
          </a:p>
        </p:txBody>
      </p:sp>
      <p:sp>
        <p:nvSpPr>
          <p:cNvPr id="9" name="Text 6"/>
          <p:cNvSpPr txBox="1"/>
          <p:nvPr/>
        </p:nvSpPr>
        <p:spPr>
          <a:xfrm>
            <a:off x="7178040" y="3063240"/>
            <a:ext cx="4023360" cy="1920240"/>
          </a:xfrm>
          <a:prstGeom prst="rect">
            <a:avLst/>
          </a:prstGeom>
          <a:noFill/>
          <a:ln/>
        </p:spPr>
        <p:txBody>
          <a:bodyPr wrap="square" lIns="0" tIns="0" rIns="0" bIns="0" rtlCol="0" anchor="ctr"/>
          <a:lstStyle/>
          <a:p>
            <a:pPr indent="0" marL="0">
              <a:lnSpc>
                <a:spcPct val="120000"/>
              </a:lnSpc>
              <a:buNone/>
            </a:pPr>
            <a:r>
              <a:rPr lang="en-US" sz="1600" dirty="0">
                <a:solidFill>
                  <a:srgbClr val="1D1D1F"/>
                </a:solidFill>
                <a:latin typeface="Helvetica Neue" pitchFamily="34" charset="0"/>
                <a:ea typeface="Helvetica Neue" pitchFamily="34" charset="-122"/>
                <a:cs typeface="Helvetica Neue" pitchFamily="34" charset="-120"/>
              </a:rPr>
              <a:t>The poisoned answer comes back,</a:t>
            </a:r>
            <a:endParaRPr lang="en-US" sz="1600" dirty="0"/>
          </a:p>
          <a:p>
            <a:pPr indent="0" marL="0">
              <a:lnSpc>
                <a:spcPct val="120000"/>
              </a:lnSpc>
              <a:buNone/>
            </a:pPr>
            <a:r>
              <a:rPr lang="en-US" sz="1600" dirty="0">
                <a:solidFill>
                  <a:srgbClr val="1D1D1F"/>
                </a:solidFill>
                <a:latin typeface="Helvetica Neue" pitchFamily="34" charset="0"/>
                <a:ea typeface="Helvetica Neue" pitchFamily="34" charset="-122"/>
                <a:cs typeface="Helvetica Neue" pitchFamily="34" charset="-120"/>
              </a:rPr>
              <a:t>and </a:t>
            </a:r>
            <a:endParaRPr lang="en-US" sz="1600" dirty="0"/>
          </a:p>
          <a:p>
            <a:pPr indent="0" marL="0">
              <a:lnSpc>
                <a:spcPct val="120000"/>
              </a:lnSpc>
              <a:buNone/>
            </a:pPr>
            <a:r>
              <a:rPr lang="en-US" sz="1600" b="1" dirty="0">
                <a:solidFill>
                  <a:srgbClr val="1D1D1F"/>
                </a:solidFill>
                <a:latin typeface="Helvetica Neue" pitchFamily="34" charset="0"/>
                <a:ea typeface="Helvetica Neue" pitchFamily="34" charset="-122"/>
                <a:cs typeface="Helvetica Neue" pitchFamily="34" charset="-120"/>
              </a:rPr>
              <a:t>the gateway's own log says the filter did not run.</a:t>
            </a:r>
            <a:pPr indent="0" marL="0">
              <a:lnSpc>
                <a:spcPct val="120000"/>
              </a:lnSpc>
              <a:buNone/>
            </a:pPr>
            <a:endParaRPr lang="en-US" sz="1600" dirty="0"/>
          </a:p>
          <a:p>
            <a:pPr indent="0" marL="0">
              <a:lnSpc>
                <a:spcPct val="120000"/>
              </a:lnSpc>
              <a:buNone/>
            </a:pPr>
            <a:endParaRPr lang="en-US" sz="1600" dirty="0"/>
          </a:p>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The claim is read from the log, not from our word.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THE RESULT</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At a normal setting, </a:t>
            </a:r>
            <a:pPr indent="0" marL="0">
              <a:lnSpc>
                <a:spcPct val="103000"/>
              </a:lnSpc>
              <a:buNone/>
            </a:pPr>
            <a:r>
              <a:rPr lang="en-US" sz="3200" b="1" dirty="0">
                <a:solidFill>
                  <a:srgbClr val="0071E3"/>
                </a:solidFill>
                <a:latin typeface="Helvetica Neue" pitchFamily="34" charset="0"/>
                <a:ea typeface="Helvetica Neue" pitchFamily="34" charset="-122"/>
                <a:cs typeface="Helvetica Neue" pitchFamily="34" charset="-120"/>
              </a:rPr>
              <a:t>97%</a:t>
            </a:r>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 of lazy attacks got through.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5120640" cy="914400"/>
        </p:xfrm>
        <a:graphic>
          <a:graphicData uri="http://schemas.openxmlformats.org/drawingml/2006/table">
            <a:tbl>
              <a:tblPr/>
              <a:tblGrid>
                <a:gridCol w="2377440"/>
                <a:gridCol w="914400"/>
                <a:gridCol w="914400"/>
                <a:gridCol w="914400"/>
              </a:tblGrid>
              <a:tr h="329184">
                <a:tc>
                  <a:txBody>
                    <a:bodyPr/>
                    <a:lstStyle/>
                    <a:p>
                      <a:pPr algn="l" indent="0" marL="0">
                        <a:buNone/>
                      </a:pPr>
                      <a:r>
                        <a:rPr lang="en-US" sz="1100" b="1" dirty="0">
                          <a:solidFill>
                            <a:srgbClr val="86868B"/>
                          </a:solidFill>
                          <a:latin typeface="Helvetica Neue" pitchFamily="34" charset="0"/>
                          <a:ea typeface="Helvetica Neue" pitchFamily="34" charset="-122"/>
                          <a:cs typeface="Helvetica Neue" pitchFamily="34" charset="-120"/>
                        </a:rPr>
                        <a:t>Cache cut-off</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6868B"/>
                          </a:solidFill>
                          <a:latin typeface="Helvetica Neue" pitchFamily="34" charset="0"/>
                          <a:ea typeface="Helvetica Neue" pitchFamily="34" charset="-122"/>
                          <a:cs typeface="Helvetica Neue" pitchFamily="34" charset="-120"/>
                        </a:rPr>
                        <a:t>Lazy</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6868B"/>
                          </a:solidFill>
                          <a:latin typeface="Helvetica Neue" pitchFamily="34" charset="0"/>
                          <a:ea typeface="Helvetica Neue" pitchFamily="34" charset="-122"/>
                          <a:cs typeface="Helvetica Neue" pitchFamily="34" charset="-120"/>
                        </a:rPr>
                        <a:t>Rewrite</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6868B"/>
                          </a:solidFill>
                          <a:latin typeface="Helvetica Neue" pitchFamily="34" charset="0"/>
                          <a:ea typeface="Helvetica Neue" pitchFamily="34" charset="-122"/>
                          <a:cs typeface="Helvetica Neue" pitchFamily="34" charset="-120"/>
                        </a:rPr>
                        <a:t>Overall</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0.95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3%</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68%</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0.90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13%</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75%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b="1" dirty="0">
                          <a:solidFill>
                            <a:srgbClr val="0071E3"/>
                          </a:solidFill>
                          <a:latin typeface="Helvetica Neue" pitchFamily="34" charset="0"/>
                          <a:ea typeface="Helvetica Neue" pitchFamily="34" charset="-122"/>
                          <a:cs typeface="Helvetica Neue" pitchFamily="34" charset="-120"/>
                        </a:rPr>
                        <a:t>0.85  ·  typical</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ctr" indent="0" marL="0">
                        <a:buNone/>
                      </a:pPr>
                      <a:r>
                        <a:rPr lang="en-US" sz="1300" b="1" dirty="0">
                          <a:solidFill>
                            <a:srgbClr val="0071E3"/>
                          </a:solidFill>
                          <a:latin typeface="Helvetica Neue" pitchFamily="34" charset="0"/>
                          <a:ea typeface="Helvetica Neue" pitchFamily="34" charset="-122"/>
                          <a:cs typeface="Helvetica Neue" pitchFamily="34" charset="-120"/>
                        </a:rPr>
                        <a:t>97%</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ctr" indent="0" marL="0">
                        <a:buNone/>
                      </a:pPr>
                      <a:r>
                        <a:rPr lang="en-US" sz="1300" b="1" dirty="0">
                          <a:solidFill>
                            <a:srgbClr val="6E6E73"/>
                          </a:solidFill>
                          <a:latin typeface="Helvetica Neue" pitchFamily="34" charset="0"/>
                          <a:ea typeface="Helvetica Neue" pitchFamily="34" charset="-122"/>
                          <a:cs typeface="Helvetica Neue" pitchFamily="34" charset="-120"/>
                        </a:rPr>
                        <a:t>28%</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ctr" indent="0" marL="0">
                        <a:buNone/>
                      </a:pPr>
                      <a:r>
                        <a:rPr lang="en-US" sz="1300" b="1" dirty="0">
                          <a:solidFill>
                            <a:srgbClr val="1D1D1F"/>
                          </a:solidFill>
                          <a:latin typeface="Helvetica Neue" pitchFamily="34" charset="0"/>
                          <a:ea typeface="Helvetica Neue" pitchFamily="34" charset="-122"/>
                          <a:cs typeface="Helvetica Neue" pitchFamily="34" charset="-120"/>
                        </a:rPr>
                        <a:t>80%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0.80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98%</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44%</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85%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0.75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99%</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63%</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0.70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99%</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74%</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93%</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0.65</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100%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86%</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D1D1F"/>
                          </a:solidFill>
                          <a:latin typeface="Helvetica Neue" pitchFamily="34" charset="0"/>
                          <a:ea typeface="Helvetica Neue" pitchFamily="34" charset="-122"/>
                          <a:cs typeface="Helvetica Neue" pitchFamily="34" charset="-120"/>
                        </a:rPr>
                        <a:t>96%</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graphicFrame>
        <p:nvGraphicFramePr>
          <p:cNvPr id="7" name="Chart 0" descr=""/>
          <p:cNvGraphicFramePr/>
          <p:nvPr/>
        </p:nvGraphicFramePr>
        <p:xfrm>
          <a:off x="6309360" y="233172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8" name="Text 3"/>
          <p:cNvSpPr txBox="1"/>
          <p:nvPr/>
        </p:nvSpPr>
        <p:spPr>
          <a:xfrm>
            <a:off x="822960" y="594360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Lazy edits get through at every setting — even the strictest a real product would use. Full rewrites only match once the cache is loosened. The filter is not weak; on a cache hit it is simply never asked.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WHY THE NUMBER IS TRUSTWORTHY</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Four checks, and a proof of cause.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15600" cy="914400"/>
        </p:xfrm>
        <a:graphic>
          <a:graphicData uri="http://schemas.openxmlformats.org/drawingml/2006/table">
            <a:tbl>
              <a:tblPr/>
              <a:tblGrid>
                <a:gridCol w="4206240"/>
                <a:gridCol w="1554480"/>
                <a:gridCol w="4754880"/>
              </a:tblGrid>
              <a:tr h="475488">
                <a:tc>
                  <a:txBody>
                    <a:bodyPr/>
                    <a:lstStyle/>
                    <a:p>
                      <a:pPr indent="0" marL="0">
                        <a:buNone/>
                      </a:pPr>
                      <a:r>
                        <a:rPr lang="en-US" sz="1100" b="1" dirty="0">
                          <a:solidFill>
                            <a:srgbClr val="86868B"/>
                          </a:solidFill>
                          <a:latin typeface="Helvetica Neue" pitchFamily="34" charset="0"/>
                          <a:ea typeface="Helvetica Neue" pitchFamily="34" charset="-122"/>
                          <a:cs typeface="Helvetica Neue" pitchFamily="34" charset="-120"/>
                        </a:rPr>
                        <a:t>Check</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6868B"/>
                          </a:solidFill>
                          <a:latin typeface="Helvetica Neue" pitchFamily="34" charset="0"/>
                          <a:ea typeface="Helvetica Neue" pitchFamily="34" charset="-122"/>
                          <a:cs typeface="Helvetica Neue" pitchFamily="34" charset="-120"/>
                        </a:rPr>
                        <a:t>Result</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indent="0" marL="0">
                        <a:buNone/>
                      </a:pPr>
                      <a:r>
                        <a:rPr lang="en-US" sz="1100" b="1" dirty="0">
                          <a:solidFill>
                            <a:srgbClr val="86868B"/>
                          </a:solidFill>
                          <a:latin typeface="Helvetica Neue" pitchFamily="34" charset="0"/>
                          <a:ea typeface="Helvetica Neue" pitchFamily="34" charset="-122"/>
                          <a:cs typeface="Helvetica Neue" pitchFamily="34" charset="-120"/>
                        </a:rPr>
                        <a:t>Why it matters</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D1D1F"/>
                          </a:solidFill>
                          <a:latin typeface="Helvetica Neue" pitchFamily="34" charset="0"/>
                          <a:ea typeface="Helvetica Neue" pitchFamily="34" charset="-122"/>
                          <a:cs typeface="Helvetica Neue" pitchFamily="34" charset="-120"/>
                        </a:rPr>
                        <a:t>Exact attack served the poison</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4C759"/>
                          </a:solidFill>
                          <a:latin typeface="Helvetica Neue" pitchFamily="34" charset="0"/>
                          <a:ea typeface="Helvetica Neue" pitchFamily="34" charset="-122"/>
                          <a:cs typeface="Helvetica Neue" pitchFamily="34" charset="-120"/>
                        </a:rPr>
                        <a:t>1673/1673</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6E6E73"/>
                          </a:solidFill>
                          <a:latin typeface="Helvetica Neue" pitchFamily="34" charset="0"/>
                          <a:ea typeface="Helvetica Neue" pitchFamily="34" charset="-122"/>
                          <a:cs typeface="Helvetica Neue" pitchFamily="34" charset="-120"/>
                        </a:rPr>
                        <a:t>the experiment is wired correctly</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D1D1F"/>
                          </a:solidFill>
                          <a:latin typeface="Helvetica Neue" pitchFamily="34" charset="0"/>
                          <a:ea typeface="Helvetica Neue" pitchFamily="34" charset="-122"/>
                          <a:cs typeface="Helvetica Neue" pitchFamily="34" charset="-120"/>
                        </a:rPr>
                        <a:t>Honest questions served the poison</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4C759"/>
                          </a:solidFill>
                          <a:latin typeface="Helvetica Neue" pitchFamily="34" charset="0"/>
                          <a:ea typeface="Helvetica Neue" pitchFamily="34" charset="-122"/>
                          <a:cs typeface="Helvetica Neue" pitchFamily="34" charset="-120"/>
                        </a:rPr>
                        <a:t>0/700</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6E6E73"/>
                          </a:solidFill>
                          <a:latin typeface="Helvetica Neue" pitchFamily="34" charset="0"/>
                          <a:ea typeface="Helvetica Neue" pitchFamily="34" charset="-122"/>
                          <a:cs typeface="Helvetica Neue" pitchFamily="34" charset="-120"/>
                        </a:rPr>
                        <a:t>normal users are not caught in the crossfire</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475488">
                <a:tc>
                  <a:txBody>
                    <a:bodyPr/>
                    <a:lstStyle/>
                    <a:p>
                      <a:pPr algn="l" indent="0" marL="0">
                        <a:buNone/>
                      </a:pPr>
                      <a:r>
                        <a:rPr lang="en-US" sz="1400" b="1" dirty="0">
                          <a:solidFill>
                            <a:srgbClr val="1D1D1F"/>
                          </a:solidFill>
                          <a:latin typeface="Helvetica Neue" pitchFamily="34" charset="0"/>
                          <a:ea typeface="Helvetica Neue" pitchFamily="34" charset="-122"/>
                          <a:cs typeface="Helvetica Neue" pitchFamily="34" charset="-120"/>
                        </a:rPr>
                        <a:t>Safe order: filter before cache</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ctr" indent="0" marL="0">
                        <a:buNone/>
                      </a:pPr>
                      <a:r>
                        <a:rPr lang="en-US" sz="1400" b="1" dirty="0">
                          <a:solidFill>
                            <a:srgbClr val="0071E3"/>
                          </a:solidFill>
                          <a:latin typeface="Helvetica Neue" pitchFamily="34" charset="0"/>
                          <a:ea typeface="Helvetica Neue" pitchFamily="34" charset="-122"/>
                          <a:cs typeface="Helvetica Neue" pitchFamily="34" charset="-120"/>
                        </a:rPr>
                        <a:t>0%</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l" indent="0" marL="0">
                        <a:buNone/>
                      </a:pPr>
                      <a:r>
                        <a:rPr lang="en-US" sz="1400" b="1" dirty="0">
                          <a:solidFill>
                            <a:srgbClr val="1D1D1F"/>
                          </a:solidFill>
                          <a:latin typeface="Helvetica Neue" pitchFamily="34" charset="0"/>
                          <a:ea typeface="Helvetica Neue" pitchFamily="34" charset="-122"/>
                          <a:cs typeface="Helvetica Neue" pitchFamily="34" charset="-120"/>
                        </a:rPr>
                        <a:t>proof the order is the cause</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r>
              <a:tr h="475488">
                <a:tc>
                  <a:txBody>
                    <a:bodyPr/>
                    <a:lstStyle/>
                    <a:p>
                      <a:pPr algn="l" indent="0" marL="0">
                        <a:buNone/>
                      </a:pPr>
                      <a:r>
                        <a:rPr lang="en-US" sz="1400" dirty="0">
                          <a:solidFill>
                            <a:srgbClr val="1D1D1F"/>
                          </a:solidFill>
                          <a:latin typeface="Helvetica Neue" pitchFamily="34" charset="0"/>
                          <a:ea typeface="Helvetica Neue" pitchFamily="34" charset="-122"/>
                          <a:cs typeface="Helvetica Neue" pitchFamily="34" charset="-120"/>
                        </a:rPr>
                        <a:t>Log score vs served hit</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4C759"/>
                          </a:solidFill>
                          <a:latin typeface="Helvetica Neue" pitchFamily="34" charset="0"/>
                          <a:ea typeface="Helvetica Neue" pitchFamily="34" charset="-122"/>
                          <a:cs typeface="Helvetica Neue" pitchFamily="34" charset="-120"/>
                        </a:rPr>
                        <a:t>0</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6E6E73"/>
                          </a:solidFill>
                          <a:latin typeface="Helvetica Neue" pitchFamily="34" charset="0"/>
                          <a:ea typeface="Helvetica Neue" pitchFamily="34" charset="-122"/>
                          <a:cs typeface="Helvetica Neue" pitchFamily="34" charset="-120"/>
                        </a:rPr>
                        <a:t>recorded scores match what was served</a:t>
                      </a:r>
                      <a:endParaRPr lang="en-US" sz="14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822960" y="598932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The safe-order row is the key one: the exact same build, with the filter moved in front of the cache, gives a 0% bypass. Nothing else changed — so the order is the cause, and the order is what Phase 3 fixes.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WHY THE CACHE IS CHECKED FIRST</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A hit is </a:t>
            </a:r>
            <a:pPr indent="0" marL="0">
              <a:lnSpc>
                <a:spcPct val="103000"/>
              </a:lnSpc>
              <a:buNone/>
            </a:pPr>
            <a:r>
              <a:rPr lang="en-US" sz="3200" b="1" dirty="0">
                <a:solidFill>
                  <a:srgbClr val="0071E3"/>
                </a:solidFill>
                <a:latin typeface="Helvetica Neue" pitchFamily="34" charset="0"/>
                <a:ea typeface="Helvetica Neue" pitchFamily="34" charset="-122"/>
                <a:cs typeface="Helvetica Neue" pitchFamily="34" charset="-120"/>
              </a:rPr>
              <a:t>7× faster</a:t>
            </a:r>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 than a miss.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2606040"/>
          <a:ext cx="5212080" cy="914400"/>
        </p:xfrm>
        <a:graphic>
          <a:graphicData uri="http://schemas.openxmlformats.org/drawingml/2006/table">
            <a:tbl>
              <a:tblPr/>
              <a:tblGrid>
                <a:gridCol w="2194560"/>
                <a:gridCol w="1371600"/>
                <a:gridCol w="822960"/>
                <a:gridCol w="822960"/>
              </a:tblGrid>
              <a:tr h="402336">
                <a:tc>
                  <a:txBody>
                    <a:bodyPr/>
                    <a:lstStyle/>
                    <a:p>
                      <a:pPr algn="l" indent="0" marL="0">
                        <a:buNone/>
                      </a:pPr>
                      <a:r>
                        <a:rPr lang="en-US" sz="1100" b="1" dirty="0">
                          <a:solidFill>
                            <a:srgbClr val="86868B"/>
                          </a:solidFill>
                          <a:latin typeface="Helvetica Neue" pitchFamily="34" charset="0"/>
                          <a:ea typeface="Helvetica Neue" pitchFamily="34" charset="-122"/>
                          <a:cs typeface="Helvetica Neue" pitchFamily="34" charset="-120"/>
                        </a:rPr>
                        <a:t>Outcome</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86868B"/>
                          </a:solidFill>
                          <a:latin typeface="Helvetica Neue" pitchFamily="34" charset="0"/>
                          <a:ea typeface="Helvetica Neue" pitchFamily="34" charset="-122"/>
                          <a:cs typeface="Helvetica Neue" pitchFamily="34" charset="-120"/>
                        </a:rPr>
                        <a:t>Requests</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86868B"/>
                          </a:solidFill>
                          <a:latin typeface="Helvetica Neue" pitchFamily="34" charset="0"/>
                          <a:ea typeface="Helvetica Neue" pitchFamily="34" charset="-122"/>
                          <a:cs typeface="Helvetica Neue" pitchFamily="34" charset="-120"/>
                        </a:rPr>
                        <a:t>p50</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86868B"/>
                          </a:solidFill>
                          <a:latin typeface="Helvetica Neue" pitchFamily="34" charset="0"/>
                          <a:ea typeface="Helvetica Neue" pitchFamily="34" charset="-122"/>
                          <a:cs typeface="Helvetica Neue" pitchFamily="34" charset="-120"/>
                        </a:rPr>
                        <a:t>p99</a:t>
                      </a:r>
                      <a:endParaRPr lang="en-US" sz="11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D2D2D7"/>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0071E3"/>
                          </a:solidFill>
                          <a:latin typeface="Helvetica Neue" pitchFamily="34" charset="0"/>
                          <a:ea typeface="Helvetica Neue" pitchFamily="34" charset="-122"/>
                          <a:cs typeface="Helvetica Neue" pitchFamily="34" charset="-120"/>
                        </a:rPr>
                        <a:t>Cache hit</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r" indent="0" marL="0">
                        <a:buNone/>
                      </a:pPr>
                      <a:r>
                        <a:rPr lang="en-US" sz="1300" b="1" dirty="0">
                          <a:solidFill>
                            <a:srgbClr val="1D1D1F"/>
                          </a:solidFill>
                          <a:latin typeface="Helvetica Neue" pitchFamily="34" charset="0"/>
                          <a:ea typeface="Helvetica Neue" pitchFamily="34" charset="-122"/>
                          <a:cs typeface="Helvetica Neue" pitchFamily="34" charset="-120"/>
                        </a:rPr>
                        <a:t>20,076</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r" indent="0" marL="0">
                        <a:buNone/>
                      </a:pPr>
                      <a:r>
                        <a:rPr lang="en-US" sz="1300" b="1" dirty="0">
                          <a:solidFill>
                            <a:srgbClr val="0071E3"/>
                          </a:solidFill>
                          <a:latin typeface="Helvetica Neue" pitchFamily="34" charset="0"/>
                          <a:ea typeface="Helvetica Neue" pitchFamily="34" charset="-122"/>
                          <a:cs typeface="Helvetica Neue" pitchFamily="34" charset="-120"/>
                        </a:rPr>
                        <a:t>14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c>
                  <a:txBody>
                    <a:bodyPr/>
                    <a:lstStyle/>
                    <a:p>
                      <a:pPr algn="r" indent="0" marL="0">
                        <a:buNone/>
                      </a:pPr>
                      <a:r>
                        <a:rPr lang="en-US" sz="1300" b="1" dirty="0">
                          <a:solidFill>
                            <a:srgbClr val="6E6E73"/>
                          </a:solidFill>
                          <a:latin typeface="Helvetica Neue" pitchFamily="34" charset="0"/>
                          <a:ea typeface="Helvetica Neue" pitchFamily="34" charset="-122"/>
                          <a:cs typeface="Helvetica Neue" pitchFamily="34" charset="-120"/>
                        </a:rPr>
                        <a:t>108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EAF3FF"/>
                      </a:solidFill>
                      <a:prstDash val="solid"/>
                      <a:round/>
                      <a:headEnd type="none" w="med" len="med"/>
                      <a:tailEnd type="none" w="med" len="med"/>
                    </a:lnL>
                    <a:lnR w="0" cap="flat" cmpd="sng" algn="ctr">
                      <a:solidFill>
                        <a:srgbClr val="EAF3FF"/>
                      </a:solidFill>
                      <a:prstDash val="solid"/>
                      <a:round/>
                      <a:headEnd type="none" w="med" len="med"/>
                      <a:tailEnd type="none" w="med" len="med"/>
                    </a:lnR>
                    <a:lnT w="0" cap="flat" cmpd="sng" algn="ctr">
                      <a:solidFill>
                        <a:srgbClr val="EAF3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EAF3FF"/>
                    </a:solidFill>
                  </a:tcPr>
                </a:tc>
              </a:tr>
              <a:tr h="402336">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Miss (screen + model)</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D1D1F"/>
                          </a:solidFill>
                          <a:latin typeface="Helvetica Neue" pitchFamily="34" charset="0"/>
                          <a:ea typeface="Helvetica Neue" pitchFamily="34" charset="-122"/>
                          <a:cs typeface="Helvetica Neue" pitchFamily="34" charset="-120"/>
                        </a:rPr>
                        <a:t>1,830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D1D1F"/>
                          </a:solidFill>
                          <a:latin typeface="Helvetica Neue" pitchFamily="34" charset="0"/>
                          <a:ea typeface="Helvetica Neue" pitchFamily="34" charset="-122"/>
                          <a:cs typeface="Helvetica Neue" pitchFamily="34" charset="-120"/>
                        </a:rPr>
                        <a:t>94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6E6E73"/>
                          </a:solidFill>
                          <a:latin typeface="Helvetica Neue" pitchFamily="34" charset="0"/>
                          <a:ea typeface="Helvetica Neue" pitchFamily="34" charset="-122"/>
                          <a:cs typeface="Helvetica Neue" pitchFamily="34" charset="-120"/>
                        </a:rPr>
                        <a:t>265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1D1D1F"/>
                          </a:solidFill>
                          <a:latin typeface="Helvetica Neue" pitchFamily="34" charset="0"/>
                          <a:ea typeface="Helvetica Neue" pitchFamily="34" charset="-122"/>
                          <a:cs typeface="Helvetica Neue" pitchFamily="34" charset="-120"/>
                        </a:rPr>
                        <a:t>Blocked attack</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D1D1F"/>
                          </a:solidFill>
                          <a:latin typeface="Helvetica Neue" pitchFamily="34" charset="0"/>
                          <a:ea typeface="Helvetica Neue" pitchFamily="34" charset="-122"/>
                          <a:cs typeface="Helvetica Neue" pitchFamily="34" charset="-120"/>
                        </a:rPr>
                        <a:t>3,510</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D1D1F"/>
                          </a:solidFill>
                          <a:latin typeface="Helvetica Neue" pitchFamily="34" charset="0"/>
                          <a:ea typeface="Helvetica Neue" pitchFamily="34" charset="-122"/>
                          <a:cs typeface="Helvetica Neue" pitchFamily="34" charset="-120"/>
                        </a:rPr>
                        <a:t>84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c>
                  <a:txBody>
                    <a:bodyPr/>
                    <a:lstStyle/>
                    <a:p>
                      <a:pPr algn="r" indent="0" marL="0">
                        <a:buNone/>
                      </a:pPr>
                      <a:r>
                        <a:rPr lang="en-US" sz="1300" dirty="0">
                          <a:solidFill>
                            <a:srgbClr val="6E6E73"/>
                          </a:solidFill>
                          <a:latin typeface="Helvetica Neue" pitchFamily="34" charset="0"/>
                          <a:ea typeface="Helvetica Neue" pitchFamily="34" charset="-122"/>
                          <a:cs typeface="Helvetica Neue" pitchFamily="34" charset="-120"/>
                        </a:rPr>
                        <a:t>236 ms</a:t>
                      </a:r>
                      <a:endParaRPr lang="en-US" sz="1300" dirty="0">
                        <a:latin typeface="Helvetica Neue" charset="0"/>
                        <a:ea typeface="Helvetica Neue" charset="0"/>
                        <a:cs typeface="Helvetica Neue" charset="0"/>
                      </a:endParaRPr>
                    </a:p>
                  </a:txBody>
                  <a:tcPr marL="91440" marR="91440" marT="45720" marB="4572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D2D2D7"/>
                      </a:solidFill>
                      <a:prstDash val="solid"/>
                      <a:round/>
                      <a:headEnd type="none" w="med" len="med"/>
                      <a:tailEnd type="none" w="med" len="med"/>
                    </a:lnB>
                    <a:solidFill>
                      <a:srgbClr val="FFFFFF"/>
                    </a:solidFill>
                  </a:tcPr>
                </a:tc>
              </a:tr>
            </a:tbl>
          </a:graphicData>
        </a:graphic>
      </p:graphicFrame>
      <p:graphicFrame>
        <p:nvGraphicFramePr>
          <p:cNvPr id="7" name="Chart 0" descr=""/>
          <p:cNvGraphicFramePr/>
          <p:nvPr/>
        </p:nvGraphicFramePr>
        <p:xfrm>
          <a:off x="6309360" y="233172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8" name="Text 3"/>
          <p:cNvSpPr txBox="1"/>
          <p:nvPr/>
        </p:nvSpPr>
        <p:spPr>
          <a:xfrm>
            <a:off x="822960" y="594360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A cache hit answers in about 14 ms; a miss pays the safety check and takes about 94 ms. Screening every request would throw that speed-up away — so the fix has to make the cache itself safety-aware.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WHAT PHASE 3 DOES</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Let the cache ask a second question.</a:t>
            </a:r>
            <a:endParaRPr lang="en-US" sz="3200" dirty="0"/>
          </a:p>
        </p:txBody>
      </p:sp>
      <p:sp>
        <p:nvSpPr>
          <p:cNvPr id="6" name="Shape 3"/>
          <p:cNvSpPr/>
          <p:nvPr/>
        </p:nvSpPr>
        <p:spPr>
          <a:xfrm>
            <a:off x="822960" y="2514600"/>
            <a:ext cx="5166360" cy="2286000"/>
          </a:xfrm>
          <a:prstGeom prst="roundRect">
            <a:avLst>
              <a:gd name="adj" fmla="val 4000"/>
            </a:avLst>
          </a:prstGeom>
          <a:solidFill>
            <a:srgbClr val="F5F5F7"/>
          </a:solidFill>
          <a:ln w="12700">
            <a:solidFill>
              <a:srgbClr val="F5F5F7"/>
            </a:solidFill>
            <a:prstDash val="solid"/>
          </a:ln>
        </p:spPr>
      </p:sp>
      <p:sp>
        <p:nvSpPr>
          <p:cNvPr id="7" name="Text 4"/>
          <p:cNvSpPr txBox="1"/>
          <p:nvPr/>
        </p:nvSpPr>
        <p:spPr>
          <a:xfrm>
            <a:off x="1188720" y="2743200"/>
            <a:ext cx="4572000" cy="320040"/>
          </a:xfrm>
          <a:prstGeom prst="rect">
            <a:avLst/>
          </a:prstGeom>
          <a:noFill/>
          <a:ln/>
        </p:spPr>
        <p:txBody>
          <a:bodyPr wrap="square" lIns="0" tIns="0" rIns="0" bIns="0" rtlCol="0" anchor="ctr"/>
          <a:lstStyle/>
          <a:p>
            <a:pPr indent="0" marL="0">
              <a:buNone/>
            </a:pPr>
            <a:r>
              <a:rPr lang="en-US" sz="1100" b="1" spc="100" kern="0" dirty="0">
                <a:solidFill>
                  <a:srgbClr val="86868B"/>
                </a:solidFill>
                <a:latin typeface="Helvetica Neue" pitchFamily="34" charset="0"/>
                <a:ea typeface="Helvetica Neue" pitchFamily="34" charset="-122"/>
                <a:cs typeface="Helvetica Neue" pitchFamily="34" charset="-120"/>
              </a:rPr>
              <a:t>THE CACHE TODAY ASKS</a:t>
            </a:r>
            <a:endParaRPr lang="en-US" sz="1100" dirty="0"/>
          </a:p>
        </p:txBody>
      </p:sp>
      <p:sp>
        <p:nvSpPr>
          <p:cNvPr id="8" name="Text 5"/>
          <p:cNvSpPr txBox="1"/>
          <p:nvPr/>
        </p:nvSpPr>
        <p:spPr>
          <a:xfrm>
            <a:off x="1188720" y="3154680"/>
            <a:ext cx="4480560" cy="914400"/>
          </a:xfrm>
          <a:prstGeom prst="rect">
            <a:avLst/>
          </a:prstGeom>
          <a:noFill/>
          <a:ln/>
        </p:spPr>
        <p:txBody>
          <a:bodyPr wrap="square" lIns="0" tIns="0" rIns="0" bIns="0" rtlCol="0" anchor="ctr"/>
          <a:lstStyle/>
          <a:p>
            <a:pPr indent="0" marL="0">
              <a:lnSpc>
                <a:spcPct val="110000"/>
              </a:lnSpc>
              <a:buNone/>
            </a:pPr>
            <a:r>
              <a:rPr lang="en-US" sz="1800" dirty="0">
                <a:solidFill>
                  <a:srgbClr val="1D1D1F"/>
                </a:solidFill>
                <a:latin typeface="Helvetica Neue" pitchFamily="34" charset="0"/>
                <a:ea typeface="Helvetica Neue" pitchFamily="34" charset="-122"/>
                <a:cs typeface="Helvetica Neue" pitchFamily="34" charset="-120"/>
              </a:rPr>
              <a:t>“Does this sound like something I answered before?”</a:t>
            </a:r>
            <a:endParaRPr lang="en-US" sz="1800" dirty="0"/>
          </a:p>
        </p:txBody>
      </p:sp>
      <p:sp>
        <p:nvSpPr>
          <p:cNvPr id="9" name="Text 6"/>
          <p:cNvSpPr txBox="1"/>
          <p:nvPr/>
        </p:nvSpPr>
        <p:spPr>
          <a:xfrm>
            <a:off x="1188720" y="4160520"/>
            <a:ext cx="4480560" cy="457200"/>
          </a:xfrm>
          <a:prstGeom prst="rect">
            <a:avLst/>
          </a:prstGeom>
          <a:noFill/>
          <a:ln/>
        </p:spPr>
        <p:txBody>
          <a:bodyPr wrap="square" lIns="0" tIns="0" rIns="0" bIns="0" rtlCol="0" anchor="ctr"/>
          <a:lstStyle/>
          <a:p>
            <a:pPr indent="0" marL="0">
              <a:buNone/>
            </a:pPr>
            <a:r>
              <a:rPr lang="en-US" sz="1400" dirty="0">
                <a:solidFill>
                  <a:srgbClr val="FF3B30"/>
                </a:solidFill>
                <a:latin typeface="Helvetica Neue" pitchFamily="34" charset="0"/>
                <a:ea typeface="Helvetica Neue" pitchFamily="34" charset="-122"/>
                <a:cs typeface="Helvetica Neue" pitchFamily="34" charset="-120"/>
              </a:rPr>
              <a:t>That is the only question. It is the hole.</a:t>
            </a:r>
            <a:endParaRPr lang="en-US" sz="1400" dirty="0"/>
          </a:p>
        </p:txBody>
      </p:sp>
      <p:sp>
        <p:nvSpPr>
          <p:cNvPr id="10" name="Shape 7"/>
          <p:cNvSpPr/>
          <p:nvPr/>
        </p:nvSpPr>
        <p:spPr>
          <a:xfrm>
            <a:off x="6446520" y="2514600"/>
            <a:ext cx="5074920" cy="2286000"/>
          </a:xfrm>
          <a:prstGeom prst="roundRect">
            <a:avLst>
              <a:gd name="adj" fmla="val 4000"/>
            </a:avLst>
          </a:prstGeom>
          <a:solidFill>
            <a:srgbClr val="EAF3FF"/>
          </a:solidFill>
          <a:ln w="15875">
            <a:solidFill>
              <a:srgbClr val="0071E3"/>
            </a:solidFill>
            <a:prstDash val="solid"/>
          </a:ln>
        </p:spPr>
      </p:sp>
      <p:sp>
        <p:nvSpPr>
          <p:cNvPr id="11" name="Text 8"/>
          <p:cNvSpPr txBox="1"/>
          <p:nvPr/>
        </p:nvSpPr>
        <p:spPr>
          <a:xfrm>
            <a:off x="6766560" y="2743200"/>
            <a:ext cx="4572000" cy="320040"/>
          </a:xfrm>
          <a:prstGeom prst="rect">
            <a:avLst/>
          </a:prstGeom>
          <a:noFill/>
          <a:ln/>
        </p:spPr>
        <p:txBody>
          <a:bodyPr wrap="square" lIns="0" tIns="0" rIns="0" bIns="0" rtlCol="0" anchor="ctr"/>
          <a:lstStyle/>
          <a:p>
            <a:pPr indent="0" marL="0">
              <a:buNone/>
            </a:pPr>
            <a:r>
              <a:rPr lang="en-US" sz="1100" b="1" spc="100" kern="0" dirty="0">
                <a:solidFill>
                  <a:srgbClr val="0071E3"/>
                </a:solidFill>
                <a:latin typeface="Helvetica Neue" pitchFamily="34" charset="0"/>
                <a:ea typeface="Helvetica Neue" pitchFamily="34" charset="-122"/>
                <a:cs typeface="Helvetica Neue" pitchFamily="34" charset="-120"/>
              </a:rPr>
              <a:t>SENTRYGATE ALSO ASKS</a:t>
            </a:r>
            <a:endParaRPr lang="en-US" sz="1100" dirty="0"/>
          </a:p>
        </p:txBody>
      </p:sp>
      <p:sp>
        <p:nvSpPr>
          <p:cNvPr id="12" name="Text 9"/>
          <p:cNvSpPr txBox="1"/>
          <p:nvPr/>
        </p:nvSpPr>
        <p:spPr>
          <a:xfrm>
            <a:off x="6766560" y="3154680"/>
            <a:ext cx="4480560" cy="914400"/>
          </a:xfrm>
          <a:prstGeom prst="rect">
            <a:avLst/>
          </a:prstGeom>
          <a:noFill/>
          <a:ln/>
        </p:spPr>
        <p:txBody>
          <a:bodyPr wrap="square" lIns="0" tIns="0" rIns="0" bIns="0" rtlCol="0" anchor="ctr"/>
          <a:lstStyle/>
          <a:p>
            <a:pPr indent="0" marL="0">
              <a:lnSpc>
                <a:spcPct val="110000"/>
              </a:lnSpc>
              <a:buNone/>
            </a:pPr>
            <a:r>
              <a:rPr lang="en-US" sz="1800" dirty="0">
                <a:solidFill>
                  <a:srgbClr val="1D1D1F"/>
                </a:solidFill>
                <a:latin typeface="Helvetica Neue" pitchFamily="34" charset="0"/>
                <a:ea typeface="Helvetica Neue" pitchFamily="34" charset="-122"/>
                <a:cs typeface="Helvetica Neue" pitchFamily="34" charset="-120"/>
              </a:rPr>
              <a:t>“…and was that earlier question </a:t>
            </a:r>
            <a:pPr indent="0" marL="0">
              <a:lnSpc>
                <a:spcPct val="110000"/>
              </a:lnSpc>
              <a:buNone/>
            </a:pPr>
            <a:r>
              <a:rPr lang="en-US" sz="1800" b="1" dirty="0">
                <a:solidFill>
                  <a:srgbClr val="1D1D1F"/>
                </a:solidFill>
                <a:latin typeface="Helvetica Neue" pitchFamily="34" charset="0"/>
                <a:ea typeface="Helvetica Neue" pitchFamily="34" charset="-122"/>
                <a:cs typeface="Helvetica Neue" pitchFamily="34" charset="-120"/>
              </a:rPr>
              <a:t>safe</a:t>
            </a:r>
            <a:pPr indent="0" marL="0">
              <a:lnSpc>
                <a:spcPct val="110000"/>
              </a:lnSpc>
              <a:buNone/>
            </a:pPr>
            <a:r>
              <a:rPr lang="en-US" sz="1800" dirty="0">
                <a:solidFill>
                  <a:srgbClr val="1D1D1F"/>
                </a:solidFill>
                <a:latin typeface="Helvetica Neue" pitchFamily="34" charset="0"/>
                <a:ea typeface="Helvetica Neue" pitchFamily="34" charset="-122"/>
                <a:cs typeface="Helvetica Neue" pitchFamily="34" charset="-120"/>
              </a:rPr>
              <a:t>?”</a:t>
            </a:r>
            <a:endParaRPr lang="en-US" sz="1800" dirty="0"/>
          </a:p>
        </p:txBody>
      </p:sp>
      <p:sp>
        <p:nvSpPr>
          <p:cNvPr id="13" name="Text 10"/>
          <p:cNvSpPr txBox="1"/>
          <p:nvPr/>
        </p:nvSpPr>
        <p:spPr>
          <a:xfrm>
            <a:off x="6766560" y="4114800"/>
            <a:ext cx="4480560" cy="548640"/>
          </a:xfrm>
          <a:prstGeom prst="rect">
            <a:avLst/>
          </a:prstGeom>
          <a:noFill/>
          <a:ln/>
        </p:spPr>
        <p:txBody>
          <a:bodyPr wrap="square" lIns="0" tIns="0" rIns="0" bIns="0" rtlCol="0" anchor="ctr"/>
          <a:lstStyle/>
          <a:p>
            <a:pPr indent="0" marL="0">
              <a:lnSpc>
                <a:spcPct val="110000"/>
              </a:lnSpc>
              <a:buNone/>
            </a:pPr>
            <a:r>
              <a:rPr lang="en-US" sz="1400" dirty="0">
                <a:solidFill>
                  <a:srgbClr val="1D1D1F"/>
                </a:solidFill>
                <a:latin typeface="Helvetica Neue" pitchFamily="34" charset="0"/>
                <a:ea typeface="Helvetica Neue" pitchFamily="34" charset="-122"/>
                <a:cs typeface="Helvetica Neue" pitchFamily="34" charset="-120"/>
              </a:rPr>
              <a:t>The safety label is already stored — so it is one extra check, no extra model.</a:t>
            </a:r>
            <a:endParaRPr lang="en-US" sz="1400" dirty="0"/>
          </a:p>
        </p:txBody>
      </p:sp>
      <p:sp>
        <p:nvSpPr>
          <p:cNvPr id="14" name="Text 11"/>
          <p:cNvSpPr txBox="1"/>
          <p:nvPr/>
        </p:nvSpPr>
        <p:spPr>
          <a:xfrm>
            <a:off x="822960" y="598932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Next milestone: rerun these exact attacks with the second question turned on. The bypass rate should fall sharply — that is the first proof the fix works.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PLAN</a:t>
            </a:r>
            <a:endParaRPr lang="en-US" sz="1200" dirty="0"/>
          </a:p>
        </p:txBody>
      </p:sp>
      <p:sp>
        <p:nvSpPr>
          <p:cNvPr id="5" name="Text 2"/>
          <p:cNvSpPr txBox="1"/>
          <p:nvPr/>
        </p:nvSpPr>
        <p:spPr>
          <a:xfrm>
            <a:off x="822960" y="932688"/>
            <a:ext cx="10515600" cy="1005840"/>
          </a:xfrm>
          <a:prstGeom prst="rect">
            <a:avLst/>
          </a:prstGeom>
          <a:noFill/>
          <a:ln/>
        </p:spPr>
        <p:txBody>
          <a:bodyPr wrap="square" lIns="0" tIns="0" rIns="0" bIns="0" rtlCol="0" anchor="ctr"/>
          <a:lstStyle/>
          <a:p>
            <a:pPr indent="0" marL="0">
              <a:lnSpc>
                <a:spcPct val="103000"/>
              </a:lnSpc>
              <a:buNone/>
            </a:pPr>
            <a:r>
              <a:rPr lang="en-US" sz="3200" b="1" dirty="0">
                <a:solidFill>
                  <a:srgbClr val="1D1D1F"/>
                </a:solidFill>
                <a:latin typeface="Helvetica Neue" pitchFamily="34" charset="0"/>
                <a:ea typeface="Helvetica Neue" pitchFamily="34" charset="-122"/>
                <a:cs typeface="Helvetica Neue" pitchFamily="34" charset="-120"/>
              </a:rPr>
              <a:t>Phase 2 done. The fix is next.</a:t>
            </a:r>
            <a:endParaRPr lang="en-US" sz="3200" dirty="0"/>
          </a:p>
        </p:txBody>
      </p:sp>
      <p:sp>
        <p:nvSpPr>
          <p:cNvPr id="6" name="Shape 3"/>
          <p:cNvSpPr/>
          <p:nvPr/>
        </p:nvSpPr>
        <p:spPr>
          <a:xfrm>
            <a:off x="822960" y="2651760"/>
            <a:ext cx="2560320" cy="2286000"/>
          </a:xfrm>
          <a:prstGeom prst="roundRect">
            <a:avLst>
              <a:gd name="adj" fmla="val 3200"/>
            </a:avLst>
          </a:prstGeom>
          <a:solidFill>
            <a:srgbClr val="F5F5F7"/>
          </a:solidFill>
          <a:ln w="12700">
            <a:solidFill>
              <a:srgbClr val="F5F5F7"/>
            </a:solidFill>
            <a:prstDash val="solid"/>
          </a:ln>
        </p:spPr>
      </p:sp>
      <p:sp>
        <p:nvSpPr>
          <p:cNvPr id="7" name="Text 4"/>
          <p:cNvSpPr txBox="1"/>
          <p:nvPr/>
        </p:nvSpPr>
        <p:spPr>
          <a:xfrm>
            <a:off x="1078992" y="2834640"/>
            <a:ext cx="2103120" cy="548640"/>
          </a:xfrm>
          <a:prstGeom prst="rect">
            <a:avLst/>
          </a:prstGeom>
          <a:noFill/>
          <a:ln/>
        </p:spPr>
        <p:txBody>
          <a:bodyPr wrap="square" lIns="0" tIns="0" rIns="0" bIns="0" rtlCol="0" anchor="ctr"/>
          <a:lstStyle/>
          <a:p>
            <a:pPr indent="0" marL="0">
              <a:buNone/>
            </a:pPr>
            <a:r>
              <a:rPr lang="en-US" sz="2800" b="1" dirty="0">
                <a:solidFill>
                  <a:srgbClr val="34C759"/>
                </a:solidFill>
                <a:latin typeface="Helvetica Neue" pitchFamily="34" charset="0"/>
                <a:ea typeface="Helvetica Neue" pitchFamily="34" charset="-122"/>
                <a:cs typeface="Helvetica Neue" pitchFamily="34" charset="-120"/>
              </a:rPr>
              <a:t>01</a:t>
            </a:r>
            <a:endParaRPr lang="en-US" sz="2800" dirty="0"/>
          </a:p>
        </p:txBody>
      </p:sp>
      <p:sp>
        <p:nvSpPr>
          <p:cNvPr id="8" name="Text 5"/>
          <p:cNvSpPr txBox="1"/>
          <p:nvPr/>
        </p:nvSpPr>
        <p:spPr>
          <a:xfrm>
            <a:off x="1078992" y="3429000"/>
            <a:ext cx="2194560" cy="274320"/>
          </a:xfrm>
          <a:prstGeom prst="rect">
            <a:avLst/>
          </a:prstGeom>
          <a:noFill/>
          <a:ln/>
        </p:spPr>
        <p:txBody>
          <a:bodyPr wrap="square" lIns="0" tIns="0" rIns="0" bIns="0" rtlCol="0" anchor="ctr"/>
          <a:lstStyle/>
          <a:p>
            <a:pPr indent="0" marL="0">
              <a:buNone/>
            </a:pPr>
            <a:r>
              <a:rPr lang="en-US" sz="1000" dirty="0">
                <a:solidFill>
                  <a:srgbClr val="86868B"/>
                </a:solidFill>
                <a:latin typeface="Helvetica Neue" pitchFamily="34" charset="0"/>
                <a:ea typeface="Helvetica Neue" pitchFamily="34" charset="-122"/>
                <a:cs typeface="Helvetica Neue" pitchFamily="34" charset="-120"/>
              </a:rPr>
              <a:t>18–22 Aug</a:t>
            </a:r>
            <a:endParaRPr lang="en-US" sz="1000" dirty="0"/>
          </a:p>
        </p:txBody>
      </p:sp>
      <p:sp>
        <p:nvSpPr>
          <p:cNvPr id="9" name="Text 6"/>
          <p:cNvSpPr txBox="1"/>
          <p:nvPr/>
        </p:nvSpPr>
        <p:spPr>
          <a:xfrm>
            <a:off x="1078992" y="3703320"/>
            <a:ext cx="2103120" cy="1005840"/>
          </a:xfrm>
          <a:prstGeom prst="rect">
            <a:avLst/>
          </a:prstGeom>
          <a:noFill/>
          <a:ln/>
        </p:spPr>
        <p:txBody>
          <a:bodyPr wrap="square" lIns="0" tIns="0" rIns="0" bIns="0" rtlCol="0" anchor="ctr"/>
          <a:lstStyle/>
          <a:p>
            <a:pPr indent="0" marL="0">
              <a:lnSpc>
                <a:spcPct val="108000"/>
              </a:lnSpc>
              <a:buNone/>
            </a:pPr>
            <a:r>
              <a:rPr lang="en-US" sz="1200" dirty="0">
                <a:solidFill>
                  <a:srgbClr val="1D1D1F"/>
                </a:solidFill>
                <a:latin typeface="Helvetica Neue" pitchFamily="34" charset="0"/>
                <a:ea typeface="Helvetica Neue" pitchFamily="34" charset="-122"/>
                <a:cs typeface="Helvetica Neue" pitchFamily="34" charset="-120"/>
              </a:rPr>
              <a:t>Prove the problem is real</a:t>
            </a:r>
            <a:endParaRPr lang="en-US" sz="1200" dirty="0"/>
          </a:p>
        </p:txBody>
      </p:sp>
      <p:sp>
        <p:nvSpPr>
          <p:cNvPr id="10" name="Text 7"/>
          <p:cNvSpPr txBox="1"/>
          <p:nvPr/>
        </p:nvSpPr>
        <p:spPr>
          <a:xfrm>
            <a:off x="1078992" y="4617720"/>
            <a:ext cx="2194560" cy="274320"/>
          </a:xfrm>
          <a:prstGeom prst="rect">
            <a:avLst/>
          </a:prstGeom>
          <a:noFill/>
          <a:ln/>
        </p:spPr>
        <p:txBody>
          <a:bodyPr wrap="square" lIns="0" tIns="0" rIns="0" bIns="0" rtlCol="0" anchor="ctr"/>
          <a:lstStyle/>
          <a:p>
            <a:pPr indent="0" marL="0">
              <a:buNone/>
            </a:pPr>
            <a:r>
              <a:rPr lang="en-US" sz="1000" b="1" dirty="0">
                <a:solidFill>
                  <a:srgbClr val="34C759"/>
                </a:solidFill>
                <a:latin typeface="Helvetica Neue" pitchFamily="34" charset="0"/>
                <a:ea typeface="Helvetica Neue" pitchFamily="34" charset="-122"/>
                <a:cs typeface="Helvetica Neue" pitchFamily="34" charset="-120"/>
              </a:rPr>
              <a:t>Done</a:t>
            </a:r>
            <a:endParaRPr lang="en-US" sz="1000" dirty="0"/>
          </a:p>
        </p:txBody>
      </p:sp>
      <p:sp>
        <p:nvSpPr>
          <p:cNvPr id="11" name="Shape 8"/>
          <p:cNvSpPr/>
          <p:nvPr/>
        </p:nvSpPr>
        <p:spPr>
          <a:xfrm>
            <a:off x="3584448" y="2651760"/>
            <a:ext cx="2560320" cy="2286000"/>
          </a:xfrm>
          <a:prstGeom prst="roundRect">
            <a:avLst>
              <a:gd name="adj" fmla="val 3200"/>
            </a:avLst>
          </a:prstGeom>
          <a:solidFill>
            <a:srgbClr val="EAF3FF"/>
          </a:solidFill>
          <a:ln w="15875">
            <a:solidFill>
              <a:srgbClr val="0071E3"/>
            </a:solidFill>
            <a:prstDash val="solid"/>
          </a:ln>
        </p:spPr>
      </p:sp>
      <p:sp>
        <p:nvSpPr>
          <p:cNvPr id="12" name="Text 9"/>
          <p:cNvSpPr txBox="1"/>
          <p:nvPr/>
        </p:nvSpPr>
        <p:spPr>
          <a:xfrm>
            <a:off x="3840480" y="2834640"/>
            <a:ext cx="2103120" cy="548640"/>
          </a:xfrm>
          <a:prstGeom prst="rect">
            <a:avLst/>
          </a:prstGeom>
          <a:noFill/>
          <a:ln/>
        </p:spPr>
        <p:txBody>
          <a:bodyPr wrap="square" lIns="0" tIns="0" rIns="0" bIns="0" rtlCol="0" anchor="ctr"/>
          <a:lstStyle/>
          <a:p>
            <a:pPr indent="0" marL="0">
              <a:buNone/>
            </a:pPr>
            <a:r>
              <a:rPr lang="en-US" sz="2800" b="1" dirty="0">
                <a:solidFill>
                  <a:srgbClr val="0071E3"/>
                </a:solidFill>
                <a:latin typeface="Helvetica Neue" pitchFamily="34" charset="0"/>
                <a:ea typeface="Helvetica Neue" pitchFamily="34" charset="-122"/>
                <a:cs typeface="Helvetica Neue" pitchFamily="34" charset="-120"/>
              </a:rPr>
              <a:t>02</a:t>
            </a:r>
            <a:endParaRPr lang="en-US" sz="2800" dirty="0"/>
          </a:p>
        </p:txBody>
      </p:sp>
      <p:sp>
        <p:nvSpPr>
          <p:cNvPr id="13" name="Text 10"/>
          <p:cNvSpPr txBox="1"/>
          <p:nvPr/>
        </p:nvSpPr>
        <p:spPr>
          <a:xfrm>
            <a:off x="3840480" y="3429000"/>
            <a:ext cx="2194560" cy="274320"/>
          </a:xfrm>
          <a:prstGeom prst="rect">
            <a:avLst/>
          </a:prstGeom>
          <a:noFill/>
          <a:ln/>
        </p:spPr>
        <p:txBody>
          <a:bodyPr wrap="square" lIns="0" tIns="0" rIns="0" bIns="0" rtlCol="0" anchor="ctr"/>
          <a:lstStyle/>
          <a:p>
            <a:pPr indent="0" marL="0">
              <a:buNone/>
            </a:pPr>
            <a:r>
              <a:rPr lang="en-US" sz="1000" dirty="0">
                <a:solidFill>
                  <a:srgbClr val="86868B"/>
                </a:solidFill>
                <a:latin typeface="Helvetica Neue" pitchFamily="34" charset="0"/>
                <a:ea typeface="Helvetica Neue" pitchFamily="34" charset="-122"/>
                <a:cs typeface="Helvetica Neue" pitchFamily="34" charset="-120"/>
              </a:rPr>
              <a:t>23 Aug – 26 Sep</a:t>
            </a:r>
            <a:endParaRPr lang="en-US" sz="1000" dirty="0"/>
          </a:p>
        </p:txBody>
      </p:sp>
      <p:sp>
        <p:nvSpPr>
          <p:cNvPr id="14" name="Text 11"/>
          <p:cNvSpPr txBox="1"/>
          <p:nvPr/>
        </p:nvSpPr>
        <p:spPr>
          <a:xfrm>
            <a:off x="3840480" y="3703320"/>
            <a:ext cx="2103120" cy="1005840"/>
          </a:xfrm>
          <a:prstGeom prst="rect">
            <a:avLst/>
          </a:prstGeom>
          <a:noFill/>
          <a:ln/>
        </p:spPr>
        <p:txBody>
          <a:bodyPr wrap="square" lIns="0" tIns="0" rIns="0" bIns="0" rtlCol="0" anchor="ctr"/>
          <a:lstStyle/>
          <a:p>
            <a:pPr indent="0" marL="0">
              <a:lnSpc>
                <a:spcPct val="108000"/>
              </a:lnSpc>
              <a:buNone/>
            </a:pPr>
            <a:r>
              <a:rPr lang="en-US" sz="1200" dirty="0">
                <a:solidFill>
                  <a:srgbClr val="1D1D1F"/>
                </a:solidFill>
                <a:latin typeface="Helvetica Neue" pitchFamily="34" charset="0"/>
                <a:ea typeface="Helvetica Neue" pitchFamily="34" charset="-122"/>
                <a:cs typeface="Helvetica Neue" pitchFamily="34" charset="-120"/>
              </a:rPr>
              <a:t>Build the gateway and reproduce the problem on it</a:t>
            </a:r>
            <a:endParaRPr lang="en-US" sz="1200" dirty="0"/>
          </a:p>
        </p:txBody>
      </p:sp>
      <p:sp>
        <p:nvSpPr>
          <p:cNvPr id="15" name="Text 12"/>
          <p:cNvSpPr txBox="1"/>
          <p:nvPr/>
        </p:nvSpPr>
        <p:spPr>
          <a:xfrm>
            <a:off x="3840480" y="4617720"/>
            <a:ext cx="2194560" cy="274320"/>
          </a:xfrm>
          <a:prstGeom prst="rect">
            <a:avLst/>
          </a:prstGeom>
          <a:noFill/>
          <a:ln/>
        </p:spPr>
        <p:txBody>
          <a:bodyPr wrap="square" lIns="0" tIns="0" rIns="0" bIns="0" rtlCol="0" anchor="ctr"/>
          <a:lstStyle/>
          <a:p>
            <a:pPr indent="0" marL="0">
              <a:buNone/>
            </a:pPr>
            <a:r>
              <a:rPr lang="en-US" sz="1000" b="1" dirty="0">
                <a:solidFill>
                  <a:srgbClr val="0071E3"/>
                </a:solidFill>
                <a:latin typeface="Helvetica Neue" pitchFamily="34" charset="0"/>
                <a:ea typeface="Helvetica Neue" pitchFamily="34" charset="-122"/>
                <a:cs typeface="Helvetica Neue" pitchFamily="34" charset="-120"/>
              </a:rPr>
              <a:t>You are here</a:t>
            </a:r>
            <a:endParaRPr lang="en-US" sz="1000" dirty="0"/>
          </a:p>
        </p:txBody>
      </p:sp>
      <p:sp>
        <p:nvSpPr>
          <p:cNvPr id="16" name="Shape 13"/>
          <p:cNvSpPr/>
          <p:nvPr/>
        </p:nvSpPr>
        <p:spPr>
          <a:xfrm>
            <a:off x="6345936" y="2651760"/>
            <a:ext cx="2560320" cy="2286000"/>
          </a:xfrm>
          <a:prstGeom prst="roundRect">
            <a:avLst>
              <a:gd name="adj" fmla="val 3200"/>
            </a:avLst>
          </a:prstGeom>
          <a:solidFill>
            <a:srgbClr val="F5F5F7"/>
          </a:solidFill>
          <a:ln w="12700">
            <a:solidFill>
              <a:srgbClr val="F5F5F7"/>
            </a:solidFill>
            <a:prstDash val="solid"/>
          </a:ln>
        </p:spPr>
      </p:sp>
      <p:sp>
        <p:nvSpPr>
          <p:cNvPr id="17" name="Text 14"/>
          <p:cNvSpPr txBox="1"/>
          <p:nvPr/>
        </p:nvSpPr>
        <p:spPr>
          <a:xfrm>
            <a:off x="6601968" y="2834640"/>
            <a:ext cx="2103120" cy="548640"/>
          </a:xfrm>
          <a:prstGeom prst="rect">
            <a:avLst/>
          </a:prstGeom>
          <a:noFill/>
          <a:ln/>
        </p:spPr>
        <p:txBody>
          <a:bodyPr wrap="square" lIns="0" tIns="0" rIns="0" bIns="0" rtlCol="0" anchor="ctr"/>
          <a:lstStyle/>
          <a:p>
            <a:pPr indent="0" marL="0">
              <a:buNone/>
            </a:pPr>
            <a:r>
              <a:rPr lang="en-US" sz="2800" b="1" dirty="0">
                <a:solidFill>
                  <a:srgbClr val="86868B"/>
                </a:solidFill>
                <a:latin typeface="Helvetica Neue" pitchFamily="34" charset="0"/>
                <a:ea typeface="Helvetica Neue" pitchFamily="34" charset="-122"/>
                <a:cs typeface="Helvetica Neue" pitchFamily="34" charset="-120"/>
              </a:rPr>
              <a:t>03</a:t>
            </a:r>
            <a:endParaRPr lang="en-US" sz="2800" dirty="0"/>
          </a:p>
        </p:txBody>
      </p:sp>
      <p:sp>
        <p:nvSpPr>
          <p:cNvPr id="18" name="Text 15"/>
          <p:cNvSpPr txBox="1"/>
          <p:nvPr/>
        </p:nvSpPr>
        <p:spPr>
          <a:xfrm>
            <a:off x="6601968" y="3429000"/>
            <a:ext cx="2194560" cy="274320"/>
          </a:xfrm>
          <a:prstGeom prst="rect">
            <a:avLst/>
          </a:prstGeom>
          <a:noFill/>
          <a:ln/>
        </p:spPr>
        <p:txBody>
          <a:bodyPr wrap="square" lIns="0" tIns="0" rIns="0" bIns="0" rtlCol="0" anchor="ctr"/>
          <a:lstStyle/>
          <a:p>
            <a:pPr indent="0" marL="0">
              <a:buNone/>
            </a:pPr>
            <a:r>
              <a:rPr lang="en-US" sz="1000" dirty="0">
                <a:solidFill>
                  <a:srgbClr val="86868B"/>
                </a:solidFill>
                <a:latin typeface="Helvetica Neue" pitchFamily="34" charset="0"/>
                <a:ea typeface="Helvetica Neue" pitchFamily="34" charset="-122"/>
                <a:cs typeface="Helvetica Neue" pitchFamily="34" charset="-120"/>
              </a:rPr>
              <a:t>27 Sep – 24 Oct</a:t>
            </a:r>
            <a:endParaRPr lang="en-US" sz="1000" dirty="0"/>
          </a:p>
        </p:txBody>
      </p:sp>
      <p:sp>
        <p:nvSpPr>
          <p:cNvPr id="19" name="Text 16"/>
          <p:cNvSpPr txBox="1"/>
          <p:nvPr/>
        </p:nvSpPr>
        <p:spPr>
          <a:xfrm>
            <a:off x="6601968" y="3703320"/>
            <a:ext cx="2103120" cy="1005840"/>
          </a:xfrm>
          <a:prstGeom prst="rect">
            <a:avLst/>
          </a:prstGeom>
          <a:noFill/>
          <a:ln/>
        </p:spPr>
        <p:txBody>
          <a:bodyPr wrap="square" lIns="0" tIns="0" rIns="0" bIns="0" rtlCol="0" anchor="ctr"/>
          <a:lstStyle/>
          <a:p>
            <a:pPr indent="0" marL="0">
              <a:lnSpc>
                <a:spcPct val="108000"/>
              </a:lnSpc>
              <a:buNone/>
            </a:pPr>
            <a:r>
              <a:rPr lang="en-US" sz="1200" dirty="0">
                <a:solidFill>
                  <a:srgbClr val="1D1D1F"/>
                </a:solidFill>
                <a:latin typeface="Helvetica Neue" pitchFamily="34" charset="0"/>
                <a:ea typeface="Helvetica Neue" pitchFamily="34" charset="-122"/>
                <a:cs typeface="Helvetica Neue" pitchFamily="34" charset="-120"/>
              </a:rPr>
              <a:t>Build the fix and show it beat the baseline, live</a:t>
            </a:r>
            <a:endParaRPr lang="en-US" sz="1200" dirty="0"/>
          </a:p>
        </p:txBody>
      </p:sp>
      <p:sp>
        <p:nvSpPr>
          <p:cNvPr id="20" name="Text 17"/>
          <p:cNvSpPr txBox="1"/>
          <p:nvPr/>
        </p:nvSpPr>
        <p:spPr>
          <a:xfrm>
            <a:off x="6601968" y="4617720"/>
            <a:ext cx="2194560" cy="274320"/>
          </a:xfrm>
          <a:prstGeom prst="rect">
            <a:avLst/>
          </a:prstGeom>
          <a:noFill/>
          <a:ln/>
        </p:spPr>
        <p:txBody>
          <a:bodyPr wrap="square" lIns="0" tIns="0" rIns="0" bIns="0" rtlCol="0" anchor="ctr"/>
          <a:lstStyle/>
          <a:p>
            <a:pPr indent="0" marL="0">
              <a:buNone/>
            </a:pPr>
            <a:r>
              <a:rPr lang="en-US" sz="1000" b="1" dirty="0">
                <a:solidFill>
                  <a:srgbClr val="86868B"/>
                </a:solidFill>
                <a:latin typeface="Helvetica Neue" pitchFamily="34" charset="0"/>
                <a:ea typeface="Helvetica Neue" pitchFamily="34" charset="-122"/>
                <a:cs typeface="Helvetica Neue" pitchFamily="34" charset="-120"/>
              </a:rPr>
              <a:t>4 weeks</a:t>
            </a:r>
            <a:endParaRPr lang="en-US" sz="1000" dirty="0"/>
          </a:p>
        </p:txBody>
      </p:sp>
      <p:sp>
        <p:nvSpPr>
          <p:cNvPr id="21" name="Shape 18"/>
          <p:cNvSpPr/>
          <p:nvPr/>
        </p:nvSpPr>
        <p:spPr>
          <a:xfrm>
            <a:off x="9107424" y="2651760"/>
            <a:ext cx="2560320" cy="2286000"/>
          </a:xfrm>
          <a:prstGeom prst="roundRect">
            <a:avLst>
              <a:gd name="adj" fmla="val 3200"/>
            </a:avLst>
          </a:prstGeom>
          <a:solidFill>
            <a:srgbClr val="F5F5F7"/>
          </a:solidFill>
          <a:ln w="12700">
            <a:solidFill>
              <a:srgbClr val="F5F5F7"/>
            </a:solidFill>
            <a:prstDash val="solid"/>
          </a:ln>
        </p:spPr>
      </p:sp>
      <p:sp>
        <p:nvSpPr>
          <p:cNvPr id="22" name="Text 19"/>
          <p:cNvSpPr txBox="1"/>
          <p:nvPr/>
        </p:nvSpPr>
        <p:spPr>
          <a:xfrm>
            <a:off x="9363456" y="2834640"/>
            <a:ext cx="2103120" cy="548640"/>
          </a:xfrm>
          <a:prstGeom prst="rect">
            <a:avLst/>
          </a:prstGeom>
          <a:noFill/>
          <a:ln/>
        </p:spPr>
        <p:txBody>
          <a:bodyPr wrap="square" lIns="0" tIns="0" rIns="0" bIns="0" rtlCol="0" anchor="ctr"/>
          <a:lstStyle/>
          <a:p>
            <a:pPr indent="0" marL="0">
              <a:buNone/>
            </a:pPr>
            <a:r>
              <a:rPr lang="en-US" sz="2800" b="1" dirty="0">
                <a:solidFill>
                  <a:srgbClr val="86868B"/>
                </a:solidFill>
                <a:latin typeface="Helvetica Neue" pitchFamily="34" charset="0"/>
                <a:ea typeface="Helvetica Neue" pitchFamily="34" charset="-122"/>
                <a:cs typeface="Helvetica Neue" pitchFamily="34" charset="-120"/>
              </a:rPr>
              <a:t>04</a:t>
            </a:r>
            <a:endParaRPr lang="en-US" sz="2800" dirty="0"/>
          </a:p>
        </p:txBody>
      </p:sp>
      <p:sp>
        <p:nvSpPr>
          <p:cNvPr id="23" name="Text 20"/>
          <p:cNvSpPr txBox="1"/>
          <p:nvPr/>
        </p:nvSpPr>
        <p:spPr>
          <a:xfrm>
            <a:off x="9363456" y="3429000"/>
            <a:ext cx="2194560" cy="274320"/>
          </a:xfrm>
          <a:prstGeom prst="rect">
            <a:avLst/>
          </a:prstGeom>
          <a:noFill/>
          <a:ln/>
        </p:spPr>
        <p:txBody>
          <a:bodyPr wrap="square" lIns="0" tIns="0" rIns="0" bIns="0" rtlCol="0" anchor="ctr"/>
          <a:lstStyle/>
          <a:p>
            <a:pPr indent="0" marL="0">
              <a:buNone/>
            </a:pPr>
            <a:r>
              <a:rPr lang="en-US" sz="1000" dirty="0">
                <a:solidFill>
                  <a:srgbClr val="86868B"/>
                </a:solidFill>
                <a:latin typeface="Helvetica Neue" pitchFamily="34" charset="0"/>
                <a:ea typeface="Helvetica Neue" pitchFamily="34" charset="-122"/>
                <a:cs typeface="Helvetica Neue" pitchFamily="34" charset="-120"/>
              </a:rPr>
              <a:t>25 Oct – 14 Nov</a:t>
            </a:r>
            <a:endParaRPr lang="en-US" sz="1000" dirty="0"/>
          </a:p>
        </p:txBody>
      </p:sp>
      <p:sp>
        <p:nvSpPr>
          <p:cNvPr id="24" name="Text 21"/>
          <p:cNvSpPr txBox="1"/>
          <p:nvPr/>
        </p:nvSpPr>
        <p:spPr>
          <a:xfrm>
            <a:off x="9363456" y="3703320"/>
            <a:ext cx="2103120" cy="1005840"/>
          </a:xfrm>
          <a:prstGeom prst="rect">
            <a:avLst/>
          </a:prstGeom>
          <a:noFill/>
          <a:ln/>
        </p:spPr>
        <p:txBody>
          <a:bodyPr wrap="square" lIns="0" tIns="0" rIns="0" bIns="0" rtlCol="0" anchor="ctr"/>
          <a:lstStyle/>
          <a:p>
            <a:pPr indent="0" marL="0">
              <a:lnSpc>
                <a:spcPct val="108000"/>
              </a:lnSpc>
              <a:buNone/>
            </a:pPr>
            <a:r>
              <a:rPr lang="en-US" sz="1200" dirty="0">
                <a:solidFill>
                  <a:srgbClr val="1D1D1F"/>
                </a:solidFill>
                <a:latin typeface="Helvetica Neue" pitchFamily="34" charset="0"/>
                <a:ea typeface="Helvetica Neue" pitchFamily="34" charset="-122"/>
                <a:cs typeface="Helvetica Neue" pitchFamily="34" charset="-120"/>
              </a:rPr>
              <a:t>Measure everything and write the paper</a:t>
            </a:r>
            <a:endParaRPr lang="en-US" sz="1200" dirty="0"/>
          </a:p>
        </p:txBody>
      </p:sp>
      <p:sp>
        <p:nvSpPr>
          <p:cNvPr id="25" name="Text 22"/>
          <p:cNvSpPr txBox="1"/>
          <p:nvPr/>
        </p:nvSpPr>
        <p:spPr>
          <a:xfrm>
            <a:off x="9363456" y="4617720"/>
            <a:ext cx="2194560" cy="274320"/>
          </a:xfrm>
          <a:prstGeom prst="rect">
            <a:avLst/>
          </a:prstGeom>
          <a:noFill/>
          <a:ln/>
        </p:spPr>
        <p:txBody>
          <a:bodyPr wrap="square" lIns="0" tIns="0" rIns="0" bIns="0" rtlCol="0" anchor="ctr"/>
          <a:lstStyle/>
          <a:p>
            <a:pPr indent="0" marL="0">
              <a:buNone/>
            </a:pPr>
            <a:r>
              <a:rPr lang="en-US" sz="1000" b="1" dirty="0">
                <a:solidFill>
                  <a:srgbClr val="86868B"/>
                </a:solidFill>
                <a:latin typeface="Helvetica Neue" pitchFamily="34" charset="0"/>
                <a:ea typeface="Helvetica Neue" pitchFamily="34" charset="-122"/>
                <a:cs typeface="Helvetica Neue" pitchFamily="34" charset="-120"/>
              </a:rPr>
              <a:t>3 weeks</a:t>
            </a:r>
            <a:endParaRPr lang="en-US" sz="1000" dirty="0"/>
          </a:p>
        </p:txBody>
      </p:sp>
      <p:sp>
        <p:nvSpPr>
          <p:cNvPr id="26" name="Text 23"/>
          <p:cNvSpPr txBox="1"/>
          <p:nvPr/>
        </p:nvSpPr>
        <p:spPr>
          <a:xfrm>
            <a:off x="822960" y="6035040"/>
            <a:ext cx="10515600" cy="640080"/>
          </a:xfrm>
          <a:prstGeom prst="rect">
            <a:avLst/>
          </a:prstGeom>
          <a:noFill/>
          <a:ln/>
        </p:spPr>
        <p:txBody>
          <a:bodyPr wrap="square" lIns="0" tIns="0" rIns="0" bIns="0" rtlCol="0" anchor="ctr"/>
          <a:lstStyle/>
          <a:p>
            <a:pPr indent="0" marL="0">
              <a:lnSpc>
                <a:spcPct val="120000"/>
              </a:lnSpc>
              <a:buNone/>
            </a:pPr>
            <a:r>
              <a:rPr lang="en-US" sz="1300" dirty="0">
                <a:solidFill>
                  <a:srgbClr val="6E6E73"/>
                </a:solidFill>
                <a:latin typeface="Helvetica Neue" pitchFamily="34" charset="0"/>
                <a:ea typeface="Helvetica Neue" pitchFamily="34" charset="-122"/>
                <a:cs typeface="Helvetica Neue" pitchFamily="34" charset="-120"/>
              </a:rPr>
              <a:t>The job of this phase was a measured, vulnerable baseline — something concrete for the fix to beat. That is exactly what we have.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822960" y="6446520"/>
            <a:ext cx="3657600" cy="274320"/>
          </a:xfrm>
          <a:prstGeom prst="rect">
            <a:avLst/>
          </a:prstGeom>
          <a:noFill/>
          <a:ln/>
        </p:spPr>
        <p:txBody>
          <a:bodyPr wrap="square" lIns="0" tIns="0" rIns="0" bIns="0" rtlCol="0" anchor="ctr"/>
          <a:lstStyle/>
          <a:p>
            <a:pPr indent="0" marL="0">
              <a:buNone/>
            </a:pPr>
            <a:r>
              <a:rPr lang="en-US" sz="900" dirty="0">
                <a:solidFill>
                  <a:srgbClr val="86868B"/>
                </a:solidFill>
                <a:latin typeface="Helvetica Neue" pitchFamily="34" charset="0"/>
                <a:ea typeface="Helvetica Neue" pitchFamily="34" charset="-122"/>
                <a:cs typeface="Helvetica Neue" pitchFamily="34" charset="-120"/>
              </a:rPr>
              <a:t>SentryGate</a:t>
            </a:r>
            <a:endParaRPr lang="en-US" sz="900" dirty="0"/>
          </a:p>
        </p:txBody>
      </p:sp>
      <p:sp>
        <p:nvSpPr>
          <p:cNvPr id="4" name="Text 1"/>
          <p:cNvSpPr txBox="1"/>
          <p:nvPr/>
        </p:nvSpPr>
        <p:spPr>
          <a:xfrm>
            <a:off x="822960" y="566928"/>
            <a:ext cx="10058400" cy="320040"/>
          </a:xfrm>
          <a:prstGeom prst="rect">
            <a:avLst/>
          </a:prstGeom>
          <a:noFill/>
          <a:ln/>
        </p:spPr>
        <p:txBody>
          <a:bodyPr wrap="square" lIns="0" tIns="0" rIns="0" bIns="0" rtlCol="0" anchor="ctr"/>
          <a:lstStyle/>
          <a:p>
            <a:pPr indent="0" marL="0">
              <a:buNone/>
            </a:pPr>
            <a:r>
              <a:rPr lang="en-US" sz="1200" b="1" spc="150" kern="0" dirty="0">
                <a:solidFill>
                  <a:srgbClr val="0071E3"/>
                </a:solidFill>
                <a:latin typeface="Helvetica Neue" pitchFamily="34" charset="0"/>
                <a:ea typeface="Helvetica Neue" pitchFamily="34" charset="-122"/>
                <a:cs typeface="Helvetica Neue" pitchFamily="34" charset="-120"/>
              </a:rPr>
              <a:t>IN ONE SENTENCE</a:t>
            </a:r>
            <a:endParaRPr lang="en-US" sz="1200" dirty="0"/>
          </a:p>
        </p:txBody>
      </p:sp>
      <p:sp>
        <p:nvSpPr>
          <p:cNvPr id="5" name="Text 2"/>
          <p:cNvSpPr txBox="1"/>
          <p:nvPr/>
        </p:nvSpPr>
        <p:spPr>
          <a:xfrm>
            <a:off x="822960" y="2286000"/>
            <a:ext cx="10515600" cy="1828800"/>
          </a:xfrm>
          <a:prstGeom prst="rect">
            <a:avLst/>
          </a:prstGeom>
          <a:noFill/>
          <a:ln/>
        </p:spPr>
        <p:txBody>
          <a:bodyPr wrap="square" lIns="0" tIns="0" rIns="0" bIns="0" rtlCol="0" anchor="ctr"/>
          <a:lstStyle/>
          <a:p>
            <a:pPr indent="0" marL="0">
              <a:lnSpc>
                <a:spcPct val="112000"/>
              </a:lnSpc>
              <a:buNone/>
            </a:pPr>
            <a:r>
              <a:rPr lang="en-US" sz="3400" b="1" dirty="0">
                <a:solidFill>
                  <a:srgbClr val="1D1D1F"/>
                </a:solidFill>
                <a:latin typeface="Helvetica Neue" pitchFamily="34" charset="0"/>
                <a:ea typeface="Helvetica Neue" pitchFamily="34" charset="-122"/>
                <a:cs typeface="Helvetica Neue" pitchFamily="34" charset="-120"/>
              </a:rPr>
              <a:t>On our own gateway, </a:t>
            </a:r>
            <a:pPr indent="0" marL="0">
              <a:lnSpc>
                <a:spcPct val="112000"/>
              </a:lnSpc>
              <a:buNone/>
            </a:pPr>
            <a:r>
              <a:rPr lang="en-US" sz="3400" b="1" dirty="0">
                <a:solidFill>
                  <a:srgbClr val="0071E3"/>
                </a:solidFill>
                <a:latin typeface="Helvetica Neue" pitchFamily="34" charset="0"/>
                <a:ea typeface="Helvetica Neue" pitchFamily="34" charset="-122"/>
                <a:cs typeface="Helvetica Neue" pitchFamily="34" charset="-120"/>
              </a:rPr>
              <a:t>97%</a:t>
            </a:r>
            <a:pPr indent="0" marL="0">
              <a:lnSpc>
                <a:spcPct val="112000"/>
              </a:lnSpc>
              <a:buNone/>
            </a:pPr>
            <a:r>
              <a:rPr lang="en-US" sz="3400" b="1" dirty="0">
                <a:solidFill>
                  <a:srgbClr val="1D1D1F"/>
                </a:solidFill>
                <a:latin typeface="Helvetica Neue" pitchFamily="34" charset="0"/>
                <a:ea typeface="Helvetica Neue" pitchFamily="34" charset="-122"/>
                <a:cs typeface="Helvetica Neue" pitchFamily="34" charset="-120"/>
              </a:rPr>
              <a:t> of lazy rewordings were served a poisoned answer,</a:t>
            </a:r>
            <a:endParaRPr lang="en-US" sz="3400" dirty="0"/>
          </a:p>
          <a:p>
            <a:pPr indent="0" marL="0">
              <a:lnSpc>
                <a:spcPct val="112000"/>
              </a:lnSpc>
              <a:buNone/>
            </a:pPr>
            <a:r>
              <a:rPr lang="en-US" sz="3400" b="1" dirty="0">
                <a:solidFill>
                  <a:srgbClr val="1D1D1F"/>
                </a:solidFill>
                <a:latin typeface="Helvetica Neue" pitchFamily="34" charset="0"/>
                <a:ea typeface="Helvetica Neue" pitchFamily="34" charset="-122"/>
                <a:cs typeface="Helvetica Neue" pitchFamily="34" charset="-120"/>
              </a:rPr>
              <a:t>and the filter ran </a:t>
            </a:r>
            <a:endParaRPr lang="en-US" sz="3400" dirty="0"/>
          </a:p>
          <a:p>
            <a:pPr indent="0" marL="0">
              <a:lnSpc>
                <a:spcPct val="112000"/>
              </a:lnSpc>
              <a:buNone/>
            </a:pPr>
            <a:r>
              <a:rPr lang="en-US" sz="3400" b="1" dirty="0">
                <a:solidFill>
                  <a:srgbClr val="FF3B30"/>
                </a:solidFill>
                <a:latin typeface="Helvetica Neue" pitchFamily="34" charset="0"/>
                <a:ea typeface="Helvetica Neue" pitchFamily="34" charset="-122"/>
                <a:cs typeface="Helvetica Neue" pitchFamily="34" charset="-120"/>
              </a:rPr>
              <a:t>zero</a:t>
            </a:r>
            <a:pPr indent="0" marL="0">
              <a:lnSpc>
                <a:spcPct val="112000"/>
              </a:lnSpc>
              <a:buNone/>
            </a:pPr>
            <a:r>
              <a:rPr lang="en-US" sz="3400" b="1" dirty="0">
                <a:solidFill>
                  <a:srgbClr val="1D1D1F"/>
                </a:solidFill>
                <a:latin typeface="Helvetica Neue" pitchFamily="34" charset="0"/>
                <a:ea typeface="Helvetica Neue" pitchFamily="34" charset="-122"/>
                <a:cs typeface="Helvetica Neue" pitchFamily="34" charset="-120"/>
              </a:rPr>
              <a:t> times.</a:t>
            </a:r>
            <a:endParaRPr lang="en-US" sz="3400" dirty="0"/>
          </a:p>
        </p:txBody>
      </p:sp>
      <p:sp>
        <p:nvSpPr>
          <p:cNvPr id="6" name="Text 3"/>
          <p:cNvSpPr txBox="1"/>
          <p:nvPr/>
        </p:nvSpPr>
        <p:spPr>
          <a:xfrm>
            <a:off x="822960" y="4526280"/>
            <a:ext cx="10058400" cy="548640"/>
          </a:xfrm>
          <a:prstGeom prst="rect">
            <a:avLst/>
          </a:prstGeom>
          <a:noFill/>
          <a:ln/>
        </p:spPr>
        <p:txBody>
          <a:bodyPr wrap="square" lIns="0" tIns="0" rIns="0" bIns="0" rtlCol="0" anchor="ctr"/>
          <a:lstStyle/>
          <a:p>
            <a:pPr indent="0" marL="0">
              <a:buNone/>
            </a:pPr>
            <a:r>
              <a:rPr lang="en-US" sz="1700" dirty="0">
                <a:solidFill>
                  <a:srgbClr val="6E6E73"/>
                </a:solidFill>
                <a:latin typeface="Helvetica Neue" pitchFamily="34" charset="0"/>
                <a:ea typeface="Helvetica Neue" pitchFamily="34" charset="-122"/>
                <a:cs typeface="Helvetica Neue" pitchFamily="34" charset="-120"/>
              </a:rPr>
              <a:t>Move the filter in front of the cache and it drops to zero — so we know exactly what to fix.</a:t>
            </a:r>
            <a:endParaRPr lang="en-US" sz="1700" dirty="0"/>
          </a:p>
        </p:txBody>
      </p:sp>
      <p:sp>
        <p:nvSpPr>
          <p:cNvPr id="7" name="Shape 4"/>
          <p:cNvSpPr/>
          <p:nvPr/>
        </p:nvSpPr>
        <p:spPr>
          <a:xfrm>
            <a:off x="822960" y="5303520"/>
            <a:ext cx="10515600" cy="0"/>
          </a:xfrm>
          <a:prstGeom prst="line">
            <a:avLst/>
          </a:prstGeom>
          <a:noFill/>
          <a:ln w="12700">
            <a:solidFill>
              <a:srgbClr val="D2D2D7"/>
            </a:solidFill>
            <a:prstDash val="solid"/>
          </a:ln>
        </p:spPr>
      </p:sp>
      <p:sp>
        <p:nvSpPr>
          <p:cNvPr id="8" name="Text 5"/>
          <p:cNvSpPr txBox="1"/>
          <p:nvPr/>
        </p:nvSpPr>
        <p:spPr>
          <a:xfrm>
            <a:off x="822960" y="5486400"/>
            <a:ext cx="5303520" cy="274320"/>
          </a:xfrm>
          <a:prstGeom prst="rect">
            <a:avLst/>
          </a:prstGeom>
          <a:noFill/>
          <a:ln/>
        </p:spPr>
        <p:txBody>
          <a:bodyPr wrap="square" lIns="0" tIns="0" rIns="0" bIns="0" rtlCol="0" anchor="ctr"/>
          <a:lstStyle/>
          <a:p>
            <a:pPr indent="0" marL="0">
              <a:buNone/>
            </a:pPr>
            <a:r>
              <a:rPr lang="en-US" sz="1000" spc="100" kern="0" dirty="0">
                <a:solidFill>
                  <a:srgbClr val="86868B"/>
                </a:solidFill>
                <a:latin typeface="Helvetica Neue" pitchFamily="34" charset="0"/>
                <a:ea typeface="Helvetica Neue" pitchFamily="34" charset="-122"/>
                <a:cs typeface="Helvetica Neue" pitchFamily="34" charset="-120"/>
              </a:rPr>
              <a:t>LIVE DEMO</a:t>
            </a:r>
            <a:endParaRPr lang="en-US" sz="1000" dirty="0"/>
          </a:p>
        </p:txBody>
      </p:sp>
      <p:sp>
        <p:nvSpPr>
          <p:cNvPr id="9" name="Text 6"/>
          <p:cNvSpPr txBox="1"/>
          <p:nvPr/>
        </p:nvSpPr>
        <p:spPr>
          <a:xfrm>
            <a:off x="822960" y="5760720"/>
            <a:ext cx="5303520" cy="365760"/>
          </a:xfrm>
          <a:prstGeom prst="rect">
            <a:avLst/>
          </a:prstGeom>
          <a:noFill/>
          <a:ln/>
        </p:spPr>
        <p:txBody>
          <a:bodyPr wrap="square" lIns="0" tIns="0" rIns="0" bIns="0" rtlCol="0" anchor="ctr"/>
          <a:lstStyle/>
          <a:p>
            <a:pPr indent="0" marL="0">
              <a:buNone/>
            </a:pPr>
            <a:r>
              <a:rPr lang="en-US" sz="1300" dirty="0">
                <a:solidFill>
                  <a:srgbClr val="1D1D1F"/>
                </a:solidFill>
                <a:latin typeface="Menlo" pitchFamily="34" charset="0"/>
                <a:ea typeface="Menlo" pitchFamily="34" charset="-122"/>
                <a:cs typeface="Menlo" pitchFamily="34" charset="-120"/>
              </a:rPr>
              <a:t>make gateway-up  &amp;&amp;  make gateway-demo</a:t>
            </a:r>
            <a:endParaRPr lang="en-US" sz="1300" dirty="0"/>
          </a:p>
        </p:txBody>
      </p:sp>
      <p:sp>
        <p:nvSpPr>
          <p:cNvPr id="10" name="Text 7"/>
          <p:cNvSpPr txBox="1"/>
          <p:nvPr/>
        </p:nvSpPr>
        <p:spPr>
          <a:xfrm>
            <a:off x="6309360" y="5486400"/>
            <a:ext cx="5303520" cy="274320"/>
          </a:xfrm>
          <a:prstGeom prst="rect">
            <a:avLst/>
          </a:prstGeom>
          <a:noFill/>
          <a:ln/>
        </p:spPr>
        <p:txBody>
          <a:bodyPr wrap="square" lIns="0" tIns="0" rIns="0" bIns="0" rtlCol="0" anchor="ctr"/>
          <a:lstStyle/>
          <a:p>
            <a:pPr indent="0" marL="0">
              <a:buNone/>
            </a:pPr>
            <a:r>
              <a:rPr lang="en-US" sz="1000" spc="100" kern="0" dirty="0">
                <a:solidFill>
                  <a:srgbClr val="86868B"/>
                </a:solidFill>
                <a:latin typeface="Helvetica Neue" pitchFamily="34" charset="0"/>
                <a:ea typeface="Helvetica Neue" pitchFamily="34" charset="-122"/>
                <a:cs typeface="Helvetica Neue" pitchFamily="34" charset="-120"/>
              </a:rPr>
              <a:t>REPRODUCE THE RESULT</a:t>
            </a:r>
            <a:endParaRPr lang="en-US" sz="1000" dirty="0"/>
          </a:p>
        </p:txBody>
      </p:sp>
      <p:sp>
        <p:nvSpPr>
          <p:cNvPr id="11" name="Text 8"/>
          <p:cNvSpPr txBox="1"/>
          <p:nvPr/>
        </p:nvSpPr>
        <p:spPr>
          <a:xfrm>
            <a:off x="6309360" y="5760720"/>
            <a:ext cx="5303520" cy="365760"/>
          </a:xfrm>
          <a:prstGeom prst="rect">
            <a:avLst/>
          </a:prstGeom>
          <a:noFill/>
          <a:ln/>
        </p:spPr>
        <p:txBody>
          <a:bodyPr wrap="square" lIns="0" tIns="0" rIns="0" bIns="0" rtlCol="0" anchor="ctr"/>
          <a:lstStyle/>
          <a:p>
            <a:pPr indent="0" marL="0">
              <a:buNone/>
            </a:pPr>
            <a:r>
              <a:rPr lang="en-US" sz="1300" dirty="0">
                <a:solidFill>
                  <a:srgbClr val="1D1D1F"/>
                </a:solidFill>
                <a:latin typeface="Menlo" pitchFamily="34" charset="0"/>
                <a:ea typeface="Menlo" pitchFamily="34" charset="-122"/>
                <a:cs typeface="Menlo" pitchFamily="34" charset="-120"/>
              </a:rPr>
              <a:t>make bypass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2026-09-24T20:02:54Z</dcterms:created>
  <dcterms:modified xsi:type="dcterms:W3CDTF">2026-09-24T20:02:54Z</dcterms:modified>
</cp:coreProperties>
</file>